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Light" charset="1" panose="00000400000000000000"/>
      <p:regular r:id="rId19"/>
    </p:embeddedFont>
    <p:embeddedFont>
      <p:font typeface="Calibri (MS)" charset="1" panose="020F0502020204030204"/>
      <p:regular r:id="rId20"/>
    </p:embeddedFont>
    <p:embeddedFont>
      <p:font typeface="Calibri (MS) Bold" charset="1" panose="020F0702030404030204"/>
      <p:regular r:id="rId21"/>
    </p:embeddedFont>
    <p:embeddedFont>
      <p:font typeface="Poppins" charset="1" panose="00000500000000000000"/>
      <p:regular r:id="rId22"/>
    </p:embeddedFont>
    <p:embeddedFont>
      <p:font typeface="Glacial Indifference" charset="1" panose="00000000000000000000"/>
      <p:regular r:id="rId23"/>
    </p:embeddedFont>
    <p:embeddedFont>
      <p:font typeface="Arial" charset="1" panose="020B0604020202020204"/>
      <p:regular r:id="rId24"/>
    </p:embeddedFont>
    <p:embeddedFont>
      <p:font typeface="Poppins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24281" y="1652274"/>
            <a:ext cx="13836014" cy="2931795"/>
            <a:chOff x="0" y="0"/>
            <a:chExt cx="5259927" cy="1114557"/>
          </a:xfrm>
        </p:grpSpPr>
        <p:sp>
          <p:nvSpPr>
            <p:cNvPr name="Freeform 3" id="3"/>
            <p:cNvSpPr/>
            <p:nvPr/>
          </p:nvSpPr>
          <p:spPr>
            <a:xfrm flipH="false" flipV="false" rot="0">
              <a:off x="0" y="0"/>
              <a:ext cx="5259927" cy="1114557"/>
            </a:xfrm>
            <a:custGeom>
              <a:avLst/>
              <a:gdLst/>
              <a:ahLst/>
              <a:cxnLst/>
              <a:rect r="r" b="b" t="t" l="l"/>
              <a:pathLst>
                <a:path h="1114557" w="5259927">
                  <a:moveTo>
                    <a:pt x="0" y="0"/>
                  </a:moveTo>
                  <a:lnTo>
                    <a:pt x="5259927" y="0"/>
                  </a:lnTo>
                  <a:lnTo>
                    <a:pt x="5259927" y="1114557"/>
                  </a:lnTo>
                  <a:lnTo>
                    <a:pt x="0" y="1114557"/>
                  </a:lnTo>
                  <a:close/>
                </a:path>
              </a:pathLst>
            </a:custGeom>
            <a:solidFill>
              <a:srgbClr val="CEC9BD"/>
            </a:solidFill>
          </p:spPr>
        </p:sp>
        <p:sp>
          <p:nvSpPr>
            <p:cNvPr name="TextBox 4" id="4"/>
            <p:cNvSpPr txBox="true"/>
            <p:nvPr/>
          </p:nvSpPr>
          <p:spPr>
            <a:xfrm>
              <a:off x="0" y="-9525"/>
              <a:ext cx="5259927" cy="1124082"/>
            </a:xfrm>
            <a:prstGeom prst="rect">
              <a:avLst/>
            </a:prstGeom>
          </p:spPr>
          <p:txBody>
            <a:bodyPr anchor="ctr" rtlCol="false" tIns="18487" lIns="18487" bIns="18487" rIns="18487"/>
            <a:lstStyle/>
            <a:p>
              <a:pPr algn="ctr">
                <a:lnSpc>
                  <a:spcPts val="1222"/>
                </a:lnSpc>
              </a:pPr>
            </a:p>
          </p:txBody>
        </p:sp>
      </p:grpSp>
      <p:grpSp>
        <p:nvGrpSpPr>
          <p:cNvPr name="Group 5" id="5"/>
          <p:cNvGrpSpPr/>
          <p:nvPr/>
        </p:nvGrpSpPr>
        <p:grpSpPr>
          <a:xfrm rot="0">
            <a:off x="2988000" y="2190285"/>
            <a:ext cx="12312000" cy="1855774"/>
            <a:chOff x="0" y="0"/>
            <a:chExt cx="1546847" cy="233154"/>
          </a:xfrm>
        </p:grpSpPr>
        <p:sp>
          <p:nvSpPr>
            <p:cNvPr name="Freeform 6" id="6"/>
            <p:cNvSpPr/>
            <p:nvPr/>
          </p:nvSpPr>
          <p:spPr>
            <a:xfrm flipH="false" flipV="false" rot="0">
              <a:off x="0" y="0"/>
              <a:ext cx="1546847" cy="233154"/>
            </a:xfrm>
            <a:custGeom>
              <a:avLst/>
              <a:gdLst/>
              <a:ahLst/>
              <a:cxnLst/>
              <a:rect r="r" b="b" t="t" l="l"/>
              <a:pathLst>
                <a:path h="233154" w="1546847">
                  <a:moveTo>
                    <a:pt x="0" y="0"/>
                  </a:moveTo>
                  <a:lnTo>
                    <a:pt x="1546847" y="0"/>
                  </a:lnTo>
                  <a:lnTo>
                    <a:pt x="1546847" y="233154"/>
                  </a:lnTo>
                  <a:lnTo>
                    <a:pt x="0" y="233154"/>
                  </a:lnTo>
                  <a:close/>
                </a:path>
              </a:pathLst>
            </a:custGeom>
            <a:solidFill>
              <a:srgbClr val="B5AFAE"/>
            </a:solidFill>
          </p:spPr>
        </p:sp>
        <p:sp>
          <p:nvSpPr>
            <p:cNvPr name="TextBox 7" id="7"/>
            <p:cNvSpPr txBox="true"/>
            <p:nvPr/>
          </p:nvSpPr>
          <p:spPr>
            <a:xfrm>
              <a:off x="0" y="-9525"/>
              <a:ext cx="1546847" cy="242679"/>
            </a:xfrm>
            <a:prstGeom prst="rect">
              <a:avLst/>
            </a:prstGeom>
          </p:spPr>
          <p:txBody>
            <a:bodyPr anchor="ctr" rtlCol="false" tIns="18487" lIns="18487" bIns="18487" rIns="18487"/>
            <a:lstStyle/>
            <a:p>
              <a:pPr algn="ctr">
                <a:lnSpc>
                  <a:spcPts val="1222"/>
                </a:lnSpc>
              </a:pPr>
            </a:p>
          </p:txBody>
        </p:sp>
      </p:grpSp>
      <p:grpSp>
        <p:nvGrpSpPr>
          <p:cNvPr name="Group 8" id="8"/>
          <p:cNvGrpSpPr/>
          <p:nvPr/>
        </p:nvGrpSpPr>
        <p:grpSpPr>
          <a:xfrm rot="-10800000">
            <a:off x="13862784" y="5808672"/>
            <a:ext cx="4425216" cy="4478328"/>
            <a:chOff x="0" y="0"/>
            <a:chExt cx="660400" cy="668326"/>
          </a:xfrm>
        </p:grpSpPr>
        <p:sp>
          <p:nvSpPr>
            <p:cNvPr name="Freeform 9" id="9"/>
            <p:cNvSpPr/>
            <p:nvPr/>
          </p:nvSpPr>
          <p:spPr>
            <a:xfrm flipH="false" flipV="false" rot="0">
              <a:off x="0" y="0"/>
              <a:ext cx="660400" cy="668326"/>
            </a:xfrm>
            <a:custGeom>
              <a:avLst/>
              <a:gdLst/>
              <a:ahLst/>
              <a:cxnLst/>
              <a:rect r="r" b="b" t="t" l="l"/>
              <a:pathLst>
                <a:path h="668326" w="660400">
                  <a:moveTo>
                    <a:pt x="220252" y="649257"/>
                  </a:moveTo>
                  <a:cubicBezTo>
                    <a:pt x="254109" y="660771"/>
                    <a:pt x="292600" y="668326"/>
                    <a:pt x="330378" y="668326"/>
                  </a:cubicBezTo>
                  <a:cubicBezTo>
                    <a:pt x="368157" y="668326"/>
                    <a:pt x="404509" y="661849"/>
                    <a:pt x="438009" y="650335"/>
                  </a:cubicBezTo>
                  <a:cubicBezTo>
                    <a:pt x="438723" y="649976"/>
                    <a:pt x="439435" y="649976"/>
                    <a:pt x="440148" y="649617"/>
                  </a:cubicBezTo>
                  <a:cubicBezTo>
                    <a:pt x="565955" y="603561"/>
                    <a:pt x="658618" y="481947"/>
                    <a:pt x="660400" y="343033"/>
                  </a:cubicBezTo>
                  <a:lnTo>
                    <a:pt x="660400" y="0"/>
                  </a:lnTo>
                  <a:lnTo>
                    <a:pt x="0" y="0"/>
                  </a:lnTo>
                  <a:lnTo>
                    <a:pt x="0" y="342779"/>
                  </a:lnTo>
                  <a:cubicBezTo>
                    <a:pt x="1782" y="482666"/>
                    <a:pt x="93019" y="604281"/>
                    <a:pt x="220252" y="649257"/>
                  </a:cubicBezTo>
                  <a:close/>
                </a:path>
              </a:pathLst>
            </a:custGeom>
            <a:solidFill>
              <a:srgbClr val="B5AFAE"/>
            </a:solidFill>
          </p:spPr>
        </p:sp>
        <p:sp>
          <p:nvSpPr>
            <p:cNvPr name="TextBox 10" id="10"/>
            <p:cNvSpPr txBox="true"/>
            <p:nvPr/>
          </p:nvSpPr>
          <p:spPr>
            <a:xfrm>
              <a:off x="0" y="-9525"/>
              <a:ext cx="660400" cy="550851"/>
            </a:xfrm>
            <a:prstGeom prst="rect">
              <a:avLst/>
            </a:prstGeom>
          </p:spPr>
          <p:txBody>
            <a:bodyPr anchor="ctr" rtlCol="false" tIns="18487" lIns="18487" bIns="18487" rIns="18487"/>
            <a:lstStyle/>
            <a:p>
              <a:pPr algn="ctr">
                <a:lnSpc>
                  <a:spcPts val="1222"/>
                </a:lnSpc>
              </a:pPr>
            </a:p>
          </p:txBody>
        </p:sp>
      </p:grpSp>
      <p:grpSp>
        <p:nvGrpSpPr>
          <p:cNvPr name="Group 11" id="11"/>
          <p:cNvGrpSpPr/>
          <p:nvPr/>
        </p:nvGrpSpPr>
        <p:grpSpPr>
          <a:xfrm rot="0">
            <a:off x="1871348" y="685621"/>
            <a:ext cx="15056215" cy="5327178"/>
            <a:chOff x="0" y="0"/>
            <a:chExt cx="20074954" cy="7102904"/>
          </a:xfrm>
        </p:grpSpPr>
        <p:sp>
          <p:nvSpPr>
            <p:cNvPr name="Freeform 12" id="12"/>
            <p:cNvSpPr/>
            <p:nvPr/>
          </p:nvSpPr>
          <p:spPr>
            <a:xfrm flipH="false" flipV="false" rot="0">
              <a:off x="0" y="0"/>
              <a:ext cx="20074948" cy="7102904"/>
            </a:xfrm>
            <a:custGeom>
              <a:avLst/>
              <a:gdLst/>
              <a:ahLst/>
              <a:cxnLst/>
              <a:rect r="r" b="b" t="t" l="l"/>
              <a:pathLst>
                <a:path h="7102904" w="20074948">
                  <a:moveTo>
                    <a:pt x="0" y="0"/>
                  </a:moveTo>
                  <a:lnTo>
                    <a:pt x="20074948" y="0"/>
                  </a:lnTo>
                  <a:lnTo>
                    <a:pt x="20074948" y="7102904"/>
                  </a:lnTo>
                  <a:lnTo>
                    <a:pt x="0" y="7102904"/>
                  </a:lnTo>
                  <a:close/>
                </a:path>
              </a:pathLst>
            </a:custGeom>
            <a:blipFill>
              <a:blip r:embed="rId2">
                <a:alphaModFix amt="0"/>
              </a:blip>
              <a:stretch>
                <a:fillRect l="0" t="-21456" r="0" b="11314"/>
              </a:stretch>
            </a:blipFill>
          </p:spPr>
        </p:sp>
        <p:sp>
          <p:nvSpPr>
            <p:cNvPr name="TextBox 13" id="13"/>
            <p:cNvSpPr txBox="true"/>
            <p:nvPr/>
          </p:nvSpPr>
          <p:spPr>
            <a:xfrm>
              <a:off x="0" y="19050"/>
              <a:ext cx="20074954" cy="7083854"/>
            </a:xfrm>
            <a:prstGeom prst="rect">
              <a:avLst/>
            </a:prstGeom>
          </p:spPr>
          <p:txBody>
            <a:bodyPr anchor="b" rtlCol="false" tIns="0" lIns="0" bIns="0" rIns="0"/>
            <a:lstStyle/>
            <a:p>
              <a:pPr algn="ctr">
                <a:lnSpc>
                  <a:spcPts val="8748"/>
                </a:lnSpc>
              </a:pPr>
              <a:r>
                <a:rPr lang="en-US" sz="8100" spc="-49">
                  <a:solidFill>
                    <a:srgbClr val="000000"/>
                  </a:solidFill>
                  <a:latin typeface="Poppins Light"/>
                  <a:ea typeface="Poppins Light"/>
                  <a:cs typeface="Poppins Light"/>
                  <a:sym typeface="Poppins Light"/>
                </a:rPr>
                <a:t>APreliminary Usability Study of a Virtual Reality-Based Rehabilitation System Using IMU Sensors.</a:t>
              </a:r>
            </a:p>
          </p:txBody>
        </p:sp>
      </p:grpSp>
      <p:sp>
        <p:nvSpPr>
          <p:cNvPr name="TextBox 14" id="14"/>
          <p:cNvSpPr txBox="true"/>
          <p:nvPr/>
        </p:nvSpPr>
        <p:spPr>
          <a:xfrm rot="0">
            <a:off x="3270342" y="6460474"/>
            <a:ext cx="12258227" cy="1400366"/>
          </a:xfrm>
          <a:prstGeom prst="rect">
            <a:avLst/>
          </a:prstGeom>
        </p:spPr>
        <p:txBody>
          <a:bodyPr anchor="t" rtlCol="false" tIns="0" lIns="0" bIns="0" rIns="0">
            <a:spAutoFit/>
          </a:bodyPr>
          <a:lstStyle/>
          <a:p>
            <a:pPr algn="ctr">
              <a:lnSpc>
                <a:spcPts val="3888"/>
              </a:lnSpc>
            </a:pPr>
            <a:r>
              <a:rPr lang="en-US" sz="3600">
                <a:solidFill>
                  <a:srgbClr val="000000"/>
                </a:solidFill>
                <a:latin typeface="Calibri (MS)"/>
                <a:ea typeface="Calibri (MS)"/>
                <a:cs typeface="Calibri (MS)"/>
                <a:sym typeface="Calibri (MS)"/>
              </a:rPr>
              <a:t>Ranfery Josua Peregrina Morales, Victor Alejandro Ovalle Pantaleón, Leticia Neira-Tovar and HomeroMorales Carrillo</a:t>
            </a:r>
          </a:p>
        </p:txBody>
      </p:sp>
      <p:sp>
        <p:nvSpPr>
          <p:cNvPr name="TextBox 15" id="15"/>
          <p:cNvSpPr txBox="true"/>
          <p:nvPr/>
        </p:nvSpPr>
        <p:spPr>
          <a:xfrm rot="0">
            <a:off x="2324281" y="8723795"/>
            <a:ext cx="13639438" cy="935203"/>
          </a:xfrm>
          <a:prstGeom prst="rect">
            <a:avLst/>
          </a:prstGeom>
        </p:spPr>
        <p:txBody>
          <a:bodyPr anchor="t" rtlCol="false" tIns="0" lIns="0" bIns="0" rIns="0">
            <a:spAutoFit/>
          </a:bodyPr>
          <a:lstStyle/>
          <a:p>
            <a:pPr algn="ctr">
              <a:lnSpc>
                <a:spcPts val="3240"/>
              </a:lnSpc>
            </a:pPr>
            <a:r>
              <a:rPr lang="en-US" sz="2700">
                <a:solidFill>
                  <a:srgbClr val="000000"/>
                </a:solidFill>
                <a:latin typeface="Calibri (MS)"/>
                <a:ea typeface="Calibri (MS)"/>
                <a:cs typeface="Calibri (MS)"/>
                <a:sym typeface="Calibri (MS)"/>
              </a:rPr>
              <a:t>Universidad Autónoma de Nuevo León, San Nicolás de los Garza, Nuevo León México</a:t>
            </a:r>
          </a:p>
          <a:p>
            <a:pPr algn="ctr">
              <a:lnSpc>
                <a:spcPts val="3240"/>
              </a:lnSpc>
            </a:pPr>
            <a:r>
              <a:rPr lang="en-US" sz="2700">
                <a:solidFill>
                  <a:srgbClr val="000000"/>
                </a:solidFill>
                <a:latin typeface="Calibri (MS)"/>
                <a:ea typeface="Calibri (MS)"/>
                <a:cs typeface="Calibri (MS)"/>
                <a:sym typeface="Calibri (MS)"/>
              </a:rPr>
              <a:t>Facultad de Ingeniería Mecánica y Eléctrica, Laboratorio de Realidad Virtual e Inmersiva</a:t>
            </a:r>
          </a:p>
        </p:txBody>
      </p:sp>
      <p:sp>
        <p:nvSpPr>
          <p:cNvPr name="Freeform 16" id="16"/>
          <p:cNvSpPr/>
          <p:nvPr/>
        </p:nvSpPr>
        <p:spPr>
          <a:xfrm flipH="false" flipV="false" rot="0">
            <a:off x="16140112" y="5631819"/>
            <a:ext cx="2147888" cy="1991678"/>
          </a:xfrm>
          <a:custGeom>
            <a:avLst/>
            <a:gdLst/>
            <a:ahLst/>
            <a:cxnLst/>
            <a:rect r="r" b="b" t="t" l="l"/>
            <a:pathLst>
              <a:path h="1991678" w="2147888">
                <a:moveTo>
                  <a:pt x="0" y="0"/>
                </a:moveTo>
                <a:lnTo>
                  <a:pt x="2147888" y="0"/>
                </a:lnTo>
                <a:lnTo>
                  <a:pt x="2147888" y="1991678"/>
                </a:lnTo>
                <a:lnTo>
                  <a:pt x="0" y="19916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0" y="0"/>
            <a:ext cx="1400356" cy="10276192"/>
            <a:chOff x="0" y="0"/>
            <a:chExt cx="532362" cy="3906617"/>
          </a:xfrm>
        </p:grpSpPr>
        <p:sp>
          <p:nvSpPr>
            <p:cNvPr name="Freeform 18" id="18"/>
            <p:cNvSpPr/>
            <p:nvPr/>
          </p:nvSpPr>
          <p:spPr>
            <a:xfrm flipH="false" flipV="false" rot="0">
              <a:off x="0" y="0"/>
              <a:ext cx="532362" cy="3906617"/>
            </a:xfrm>
            <a:custGeom>
              <a:avLst/>
              <a:gdLst/>
              <a:ahLst/>
              <a:cxnLst/>
              <a:rect r="r" b="b" t="t" l="l"/>
              <a:pathLst>
                <a:path h="3906617" w="532362">
                  <a:moveTo>
                    <a:pt x="0" y="0"/>
                  </a:moveTo>
                  <a:lnTo>
                    <a:pt x="532362" y="0"/>
                  </a:lnTo>
                  <a:lnTo>
                    <a:pt x="532362" y="3906617"/>
                  </a:lnTo>
                  <a:lnTo>
                    <a:pt x="0" y="3906617"/>
                  </a:lnTo>
                  <a:close/>
                </a:path>
              </a:pathLst>
            </a:custGeom>
            <a:solidFill>
              <a:srgbClr val="674194"/>
            </a:solidFill>
          </p:spPr>
        </p:sp>
        <p:sp>
          <p:nvSpPr>
            <p:cNvPr name="TextBox 19" id="19"/>
            <p:cNvSpPr txBox="true"/>
            <p:nvPr/>
          </p:nvSpPr>
          <p:spPr>
            <a:xfrm>
              <a:off x="0" y="-9525"/>
              <a:ext cx="532362" cy="3916142"/>
            </a:xfrm>
            <a:prstGeom prst="rect">
              <a:avLst/>
            </a:prstGeom>
          </p:spPr>
          <p:txBody>
            <a:bodyPr anchor="ctr" rtlCol="false" tIns="18487" lIns="18487" bIns="18487" rIns="18487"/>
            <a:lstStyle/>
            <a:p>
              <a:pPr algn="ctr">
                <a:lnSpc>
                  <a:spcPts val="1222"/>
                </a:lnSpc>
              </a:pPr>
            </a:p>
          </p:txBody>
        </p:sp>
      </p:grpSp>
      <p:sp>
        <p:nvSpPr>
          <p:cNvPr name="TextBox 20" id="20"/>
          <p:cNvSpPr txBox="true"/>
          <p:nvPr/>
        </p:nvSpPr>
        <p:spPr>
          <a:xfrm rot="0">
            <a:off x="3270342" y="7758433"/>
            <a:ext cx="12258227" cy="559755"/>
          </a:xfrm>
          <a:prstGeom prst="rect">
            <a:avLst/>
          </a:prstGeom>
        </p:spPr>
        <p:txBody>
          <a:bodyPr anchor="t" rtlCol="false" tIns="0" lIns="0" bIns="0" rIns="0">
            <a:spAutoFit/>
          </a:bodyPr>
          <a:lstStyle/>
          <a:p>
            <a:pPr algn="ctr">
              <a:lnSpc>
                <a:spcPts val="3888"/>
              </a:lnSpc>
            </a:pPr>
            <a:r>
              <a:rPr lang="en-US" sz="3600" b="true">
                <a:solidFill>
                  <a:srgbClr val="000000"/>
                </a:solidFill>
                <a:latin typeface="Calibri (MS) Bold"/>
                <a:ea typeface="Calibri (MS) Bold"/>
                <a:cs typeface="Calibri (MS) Bold"/>
                <a:sym typeface="Calibri (MS) Bold"/>
              </a:rPr>
              <a:t>Presented by: Hemish Briones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2247" y="3346650"/>
            <a:ext cx="14190427" cy="5037846"/>
            <a:chOff x="0" y="0"/>
            <a:chExt cx="5394661" cy="1915198"/>
          </a:xfrm>
        </p:grpSpPr>
        <p:sp>
          <p:nvSpPr>
            <p:cNvPr name="Freeform 3" id="3"/>
            <p:cNvSpPr/>
            <p:nvPr/>
          </p:nvSpPr>
          <p:spPr>
            <a:xfrm flipH="false" flipV="false" rot="0">
              <a:off x="0" y="0"/>
              <a:ext cx="5394661" cy="1915198"/>
            </a:xfrm>
            <a:custGeom>
              <a:avLst/>
              <a:gdLst/>
              <a:ahLst/>
              <a:cxnLst/>
              <a:rect r="r" b="b" t="t" l="l"/>
              <a:pathLst>
                <a:path h="1915198" w="5394661">
                  <a:moveTo>
                    <a:pt x="0" y="0"/>
                  </a:moveTo>
                  <a:lnTo>
                    <a:pt x="5394661" y="0"/>
                  </a:lnTo>
                  <a:lnTo>
                    <a:pt x="5394661" y="1915198"/>
                  </a:lnTo>
                  <a:lnTo>
                    <a:pt x="0" y="1915198"/>
                  </a:lnTo>
                  <a:close/>
                </a:path>
              </a:pathLst>
            </a:custGeom>
            <a:solidFill>
              <a:srgbClr val="E2A9F1"/>
            </a:solidFill>
          </p:spPr>
        </p:sp>
        <p:sp>
          <p:nvSpPr>
            <p:cNvPr name="TextBox 4" id="4"/>
            <p:cNvSpPr txBox="true"/>
            <p:nvPr/>
          </p:nvSpPr>
          <p:spPr>
            <a:xfrm>
              <a:off x="0" y="-9525"/>
              <a:ext cx="5394661" cy="1924723"/>
            </a:xfrm>
            <a:prstGeom prst="rect">
              <a:avLst/>
            </a:prstGeom>
          </p:spPr>
          <p:txBody>
            <a:bodyPr anchor="ctr" rtlCol="false" tIns="18487" lIns="18487" bIns="18487" rIns="18487"/>
            <a:lstStyle/>
            <a:p>
              <a:pPr algn="ctr">
                <a:lnSpc>
                  <a:spcPts val="1222"/>
                </a:lnSpc>
              </a:pPr>
            </a:p>
          </p:txBody>
        </p:sp>
      </p:grpSp>
      <p:grpSp>
        <p:nvGrpSpPr>
          <p:cNvPr name="Group 5" id="5"/>
          <p:cNvGrpSpPr/>
          <p:nvPr/>
        </p:nvGrpSpPr>
        <p:grpSpPr>
          <a:xfrm rot="0">
            <a:off x="1257300" y="547688"/>
            <a:ext cx="15773400" cy="2549042"/>
            <a:chOff x="0" y="0"/>
            <a:chExt cx="21031200" cy="3398723"/>
          </a:xfrm>
        </p:grpSpPr>
        <p:sp>
          <p:nvSpPr>
            <p:cNvPr name="Freeform 6" id="6"/>
            <p:cNvSpPr/>
            <p:nvPr/>
          </p:nvSpPr>
          <p:spPr>
            <a:xfrm flipH="false" flipV="false" rot="0">
              <a:off x="0" y="0"/>
              <a:ext cx="21031200" cy="3398724"/>
            </a:xfrm>
            <a:custGeom>
              <a:avLst/>
              <a:gdLst/>
              <a:ahLst/>
              <a:cxnLst/>
              <a:rect r="r" b="b" t="t" l="l"/>
              <a:pathLst>
                <a:path h="3398724" w="21031200">
                  <a:moveTo>
                    <a:pt x="0" y="0"/>
                  </a:moveTo>
                  <a:lnTo>
                    <a:pt x="21031200" y="0"/>
                  </a:lnTo>
                  <a:lnTo>
                    <a:pt x="21031200" y="3398724"/>
                  </a:lnTo>
                  <a:lnTo>
                    <a:pt x="0" y="3398724"/>
                  </a:lnTo>
                  <a:close/>
                </a:path>
              </a:pathLst>
            </a:custGeom>
            <a:blipFill>
              <a:blip r:embed="rId2">
                <a:alphaModFix amt="0"/>
              </a:blip>
              <a:stretch>
                <a:fillRect l="0" t="-81571" r="0" b="-59574"/>
              </a:stretch>
            </a:blipFill>
          </p:spPr>
        </p:sp>
        <p:sp>
          <p:nvSpPr>
            <p:cNvPr name="TextBox 7" id="7"/>
            <p:cNvSpPr txBox="true"/>
            <p:nvPr/>
          </p:nvSpPr>
          <p:spPr>
            <a:xfrm>
              <a:off x="0" y="19050"/>
              <a:ext cx="21031200" cy="3379673"/>
            </a:xfrm>
            <a:prstGeom prst="rect">
              <a:avLst/>
            </a:prstGeom>
          </p:spPr>
          <p:txBody>
            <a:bodyPr anchor="ctr" rtlCol="false" tIns="0" lIns="0" bIns="0" rIns="0"/>
            <a:lstStyle/>
            <a:p>
              <a:pPr algn="ctr">
                <a:lnSpc>
                  <a:spcPts val="7128"/>
                </a:lnSpc>
              </a:pPr>
              <a:r>
                <a:rPr lang="en-US" sz="6600" spc="-40">
                  <a:solidFill>
                    <a:srgbClr val="000000"/>
                  </a:solidFill>
                  <a:latin typeface="Poppins"/>
                  <a:ea typeface="Poppins"/>
                  <a:cs typeface="Poppins"/>
                  <a:sym typeface="Poppins"/>
                </a:rPr>
                <a:t>Physical rehabilitation and the recovery process</a:t>
              </a:r>
            </a:p>
          </p:txBody>
        </p:sp>
      </p:grpSp>
      <p:grpSp>
        <p:nvGrpSpPr>
          <p:cNvPr name="Group 8" id="8"/>
          <p:cNvGrpSpPr/>
          <p:nvPr/>
        </p:nvGrpSpPr>
        <p:grpSpPr>
          <a:xfrm rot="0">
            <a:off x="10071325" y="3952938"/>
            <a:ext cx="6959375" cy="3918986"/>
            <a:chOff x="0" y="0"/>
            <a:chExt cx="9484258" cy="5340807"/>
          </a:xfrm>
        </p:grpSpPr>
        <p:sp>
          <p:nvSpPr>
            <p:cNvPr name="Freeform 9" id="9"/>
            <p:cNvSpPr/>
            <p:nvPr/>
          </p:nvSpPr>
          <p:spPr>
            <a:xfrm flipH="false" flipV="false" rot="0">
              <a:off x="0" y="0"/>
              <a:ext cx="9484233" cy="5340858"/>
            </a:xfrm>
            <a:custGeom>
              <a:avLst/>
              <a:gdLst/>
              <a:ahLst/>
              <a:cxnLst/>
              <a:rect r="r" b="b" t="t" l="l"/>
              <a:pathLst>
                <a:path h="5340858" w="9484233">
                  <a:moveTo>
                    <a:pt x="1298070" y="0"/>
                  </a:moveTo>
                  <a:lnTo>
                    <a:pt x="8186162" y="0"/>
                  </a:lnTo>
                  <a:cubicBezTo>
                    <a:pt x="8530432" y="0"/>
                    <a:pt x="8860602" y="136761"/>
                    <a:pt x="9104037" y="380196"/>
                  </a:cubicBezTo>
                  <a:cubicBezTo>
                    <a:pt x="9347472" y="623631"/>
                    <a:pt x="9484233" y="953801"/>
                    <a:pt x="9484233" y="1298070"/>
                  </a:cubicBezTo>
                  <a:lnTo>
                    <a:pt x="9484233" y="4042788"/>
                  </a:lnTo>
                  <a:cubicBezTo>
                    <a:pt x="9484233" y="4387057"/>
                    <a:pt x="9347472" y="4717227"/>
                    <a:pt x="9104037" y="4960662"/>
                  </a:cubicBezTo>
                  <a:cubicBezTo>
                    <a:pt x="8860602" y="5204097"/>
                    <a:pt x="8530432" y="5340858"/>
                    <a:pt x="8186162" y="5340858"/>
                  </a:cubicBezTo>
                  <a:lnTo>
                    <a:pt x="1298070" y="5340858"/>
                  </a:lnTo>
                  <a:cubicBezTo>
                    <a:pt x="953801" y="5340858"/>
                    <a:pt x="623631" y="5204097"/>
                    <a:pt x="380196" y="4960662"/>
                  </a:cubicBezTo>
                  <a:cubicBezTo>
                    <a:pt x="136761" y="4717227"/>
                    <a:pt x="0" y="4387057"/>
                    <a:pt x="0" y="4042788"/>
                  </a:cubicBezTo>
                  <a:lnTo>
                    <a:pt x="0" y="1298070"/>
                  </a:lnTo>
                  <a:cubicBezTo>
                    <a:pt x="0" y="953801"/>
                    <a:pt x="136761" y="623631"/>
                    <a:pt x="380196" y="380196"/>
                  </a:cubicBezTo>
                  <a:cubicBezTo>
                    <a:pt x="623631" y="136761"/>
                    <a:pt x="953801" y="0"/>
                    <a:pt x="1298070" y="0"/>
                  </a:cubicBezTo>
                  <a:close/>
                </a:path>
              </a:pathLst>
            </a:custGeom>
            <a:blipFill>
              <a:blip r:embed="rId3"/>
              <a:stretch>
                <a:fillRect l="0" t="0" r="-111" b="0"/>
              </a:stretch>
            </a:blipFill>
          </p:spPr>
        </p:sp>
      </p:grpSp>
      <p:grpSp>
        <p:nvGrpSpPr>
          <p:cNvPr name="Group 10" id="10"/>
          <p:cNvGrpSpPr/>
          <p:nvPr/>
        </p:nvGrpSpPr>
        <p:grpSpPr>
          <a:xfrm rot="0">
            <a:off x="6268731" y="3949390"/>
            <a:ext cx="2991764" cy="3922534"/>
            <a:chOff x="0" y="0"/>
            <a:chExt cx="6064402" cy="7951102"/>
          </a:xfrm>
        </p:grpSpPr>
        <p:sp>
          <p:nvSpPr>
            <p:cNvPr name="Freeform 11" id="11"/>
            <p:cNvSpPr/>
            <p:nvPr/>
          </p:nvSpPr>
          <p:spPr>
            <a:xfrm flipH="false" flipV="false" rot="0">
              <a:off x="0" y="0"/>
              <a:ext cx="6064377" cy="7951089"/>
            </a:xfrm>
            <a:custGeom>
              <a:avLst/>
              <a:gdLst/>
              <a:ahLst/>
              <a:cxnLst/>
              <a:rect r="r" b="b" t="t" l="l"/>
              <a:pathLst>
                <a:path h="7951089" w="6064377">
                  <a:moveTo>
                    <a:pt x="1930748" y="0"/>
                  </a:moveTo>
                  <a:lnTo>
                    <a:pt x="4133629" y="0"/>
                  </a:lnTo>
                  <a:cubicBezTo>
                    <a:pt x="4645696" y="0"/>
                    <a:pt x="5136789" y="203418"/>
                    <a:pt x="5498874" y="565503"/>
                  </a:cubicBezTo>
                  <a:cubicBezTo>
                    <a:pt x="5860960" y="927588"/>
                    <a:pt x="6064377" y="1418682"/>
                    <a:pt x="6064377" y="1930748"/>
                  </a:cubicBezTo>
                  <a:lnTo>
                    <a:pt x="6064377" y="6020341"/>
                  </a:lnTo>
                  <a:cubicBezTo>
                    <a:pt x="6064377" y="7086664"/>
                    <a:pt x="5199952" y="7951089"/>
                    <a:pt x="4133629" y="7951089"/>
                  </a:cubicBezTo>
                  <a:lnTo>
                    <a:pt x="1930748" y="7951089"/>
                  </a:lnTo>
                  <a:cubicBezTo>
                    <a:pt x="864425" y="7951089"/>
                    <a:pt x="0" y="7086664"/>
                    <a:pt x="0" y="6020341"/>
                  </a:cubicBezTo>
                  <a:lnTo>
                    <a:pt x="0" y="1930748"/>
                  </a:lnTo>
                  <a:cubicBezTo>
                    <a:pt x="0" y="864425"/>
                    <a:pt x="864425" y="0"/>
                    <a:pt x="1930748" y="0"/>
                  </a:cubicBezTo>
                  <a:close/>
                </a:path>
              </a:pathLst>
            </a:custGeom>
            <a:blipFill>
              <a:blip r:embed="rId4"/>
              <a:stretch>
                <a:fillRect l="0" t="0" r="0" b="-210"/>
              </a:stretch>
            </a:blipFill>
          </p:spPr>
        </p:sp>
      </p:grpSp>
      <p:grpSp>
        <p:nvGrpSpPr>
          <p:cNvPr name="Group 12" id="12"/>
          <p:cNvGrpSpPr/>
          <p:nvPr/>
        </p:nvGrpSpPr>
        <p:grpSpPr>
          <a:xfrm rot="0">
            <a:off x="1028700" y="3346650"/>
            <a:ext cx="4272439" cy="5037846"/>
            <a:chOff x="0" y="0"/>
            <a:chExt cx="1624219" cy="1915198"/>
          </a:xfrm>
        </p:grpSpPr>
        <p:sp>
          <p:nvSpPr>
            <p:cNvPr name="Freeform 13" id="13"/>
            <p:cNvSpPr/>
            <p:nvPr/>
          </p:nvSpPr>
          <p:spPr>
            <a:xfrm flipH="false" flipV="false" rot="0">
              <a:off x="0" y="0"/>
              <a:ext cx="1624219" cy="1915198"/>
            </a:xfrm>
            <a:custGeom>
              <a:avLst/>
              <a:gdLst/>
              <a:ahLst/>
              <a:cxnLst/>
              <a:rect r="r" b="b" t="t" l="l"/>
              <a:pathLst>
                <a:path h="1915198" w="1624219">
                  <a:moveTo>
                    <a:pt x="0" y="0"/>
                  </a:moveTo>
                  <a:lnTo>
                    <a:pt x="1624219" y="0"/>
                  </a:lnTo>
                  <a:lnTo>
                    <a:pt x="1624219" y="1915198"/>
                  </a:lnTo>
                  <a:lnTo>
                    <a:pt x="0" y="1915198"/>
                  </a:lnTo>
                  <a:close/>
                </a:path>
              </a:pathLst>
            </a:custGeom>
            <a:solidFill>
              <a:srgbClr val="E2A9F1"/>
            </a:solidFill>
          </p:spPr>
        </p:sp>
        <p:sp>
          <p:nvSpPr>
            <p:cNvPr name="TextBox 14" id="14"/>
            <p:cNvSpPr txBox="true"/>
            <p:nvPr/>
          </p:nvSpPr>
          <p:spPr>
            <a:xfrm>
              <a:off x="0" y="-9525"/>
              <a:ext cx="1624219" cy="1924723"/>
            </a:xfrm>
            <a:prstGeom prst="rect">
              <a:avLst/>
            </a:prstGeom>
          </p:spPr>
          <p:txBody>
            <a:bodyPr anchor="ctr" rtlCol="false" tIns="18487" lIns="18487" bIns="18487" rIns="18487"/>
            <a:lstStyle/>
            <a:p>
              <a:pPr algn="ctr">
                <a:lnSpc>
                  <a:spcPts val="1222"/>
                </a:lnSpc>
              </a:pPr>
            </a:p>
          </p:txBody>
        </p:sp>
      </p:grpSp>
      <p:sp>
        <p:nvSpPr>
          <p:cNvPr name="TextBox 15" id="15"/>
          <p:cNvSpPr txBox="true"/>
          <p:nvPr/>
        </p:nvSpPr>
        <p:spPr>
          <a:xfrm rot="0">
            <a:off x="1028700" y="4765962"/>
            <a:ext cx="4213041" cy="1695351"/>
          </a:xfrm>
          <a:prstGeom prst="rect">
            <a:avLst/>
          </a:prstGeom>
        </p:spPr>
        <p:txBody>
          <a:bodyPr anchor="t" rtlCol="false" tIns="0" lIns="0" bIns="0" rIns="0">
            <a:spAutoFit/>
          </a:bodyPr>
          <a:lstStyle/>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Sadness</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Boredom</a:t>
            </a:r>
          </a:p>
          <a:p>
            <a:pPr algn="l" marL="651510" indent="-325755" lvl="1">
              <a:lnSpc>
                <a:spcPts val="4320"/>
              </a:lnSpc>
              <a:buFont typeface="Arial"/>
              <a:buChar char="•"/>
            </a:pPr>
            <a:r>
              <a:rPr lang="en-US" sz="3600">
                <a:solidFill>
                  <a:srgbClr val="000000"/>
                </a:solidFill>
                <a:latin typeface="Calibri (MS)"/>
                <a:ea typeface="Calibri (MS)"/>
                <a:cs typeface="Calibri (MS)"/>
                <a:sym typeface="Calibri (MS)"/>
              </a:rPr>
              <a:t>Loss of motivation</a:t>
            </a:r>
          </a:p>
        </p:txBody>
      </p:sp>
      <p:sp>
        <p:nvSpPr>
          <p:cNvPr name="Freeform 16" id="16"/>
          <p:cNvSpPr/>
          <p:nvPr/>
        </p:nvSpPr>
        <p:spPr>
          <a:xfrm flipH="false" flipV="false" rot="0">
            <a:off x="15610891" y="546020"/>
            <a:ext cx="2147888" cy="1991678"/>
          </a:xfrm>
          <a:custGeom>
            <a:avLst/>
            <a:gdLst/>
            <a:ahLst/>
            <a:cxnLst/>
            <a:rect r="r" b="b" t="t" l="l"/>
            <a:pathLst>
              <a:path h="1991678" w="2147888">
                <a:moveTo>
                  <a:pt x="0" y="0"/>
                </a:moveTo>
                <a:lnTo>
                  <a:pt x="2147888" y="0"/>
                </a:lnTo>
                <a:lnTo>
                  <a:pt x="2147888" y="1991678"/>
                </a:lnTo>
                <a:lnTo>
                  <a:pt x="0" y="19916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99267" y="1028700"/>
            <a:ext cx="11261657" cy="2863167"/>
            <a:chOff x="0" y="0"/>
            <a:chExt cx="1558033" cy="396115"/>
          </a:xfrm>
        </p:grpSpPr>
        <p:sp>
          <p:nvSpPr>
            <p:cNvPr name="Freeform 3" id="3"/>
            <p:cNvSpPr/>
            <p:nvPr/>
          </p:nvSpPr>
          <p:spPr>
            <a:xfrm flipH="false" flipV="false" rot="0">
              <a:off x="0" y="0"/>
              <a:ext cx="1558033" cy="396115"/>
            </a:xfrm>
            <a:custGeom>
              <a:avLst/>
              <a:gdLst/>
              <a:ahLst/>
              <a:cxnLst/>
              <a:rect r="r" b="b" t="t" l="l"/>
              <a:pathLst>
                <a:path h="396115" w="1558033">
                  <a:moveTo>
                    <a:pt x="0" y="0"/>
                  </a:moveTo>
                  <a:lnTo>
                    <a:pt x="1558033" y="0"/>
                  </a:lnTo>
                  <a:lnTo>
                    <a:pt x="1558033" y="396115"/>
                  </a:lnTo>
                  <a:lnTo>
                    <a:pt x="0" y="396115"/>
                  </a:lnTo>
                  <a:close/>
                </a:path>
              </a:pathLst>
            </a:custGeom>
            <a:solidFill>
              <a:srgbClr val="E2A9F1"/>
            </a:solidFill>
          </p:spPr>
        </p:sp>
        <p:sp>
          <p:nvSpPr>
            <p:cNvPr name="TextBox 4" id="4"/>
            <p:cNvSpPr txBox="true"/>
            <p:nvPr/>
          </p:nvSpPr>
          <p:spPr>
            <a:xfrm>
              <a:off x="0" y="-19050"/>
              <a:ext cx="1558033" cy="41516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257300" y="547688"/>
            <a:ext cx="15773400" cy="1988345"/>
            <a:chOff x="0" y="0"/>
            <a:chExt cx="21031200" cy="2651126"/>
          </a:xfrm>
        </p:grpSpPr>
        <p:sp>
          <p:nvSpPr>
            <p:cNvPr name="Freeform 6" id="6"/>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7" id="7"/>
            <p:cNvSpPr txBox="true"/>
            <p:nvPr/>
          </p:nvSpPr>
          <p:spPr>
            <a:xfrm>
              <a:off x="0" y="19050"/>
              <a:ext cx="21031200" cy="2632076"/>
            </a:xfrm>
            <a:prstGeom prst="rect">
              <a:avLst/>
            </a:prstGeom>
          </p:spPr>
          <p:txBody>
            <a:bodyPr anchor="ctr" rtlCol="false" tIns="0" lIns="0" bIns="0" rIns="0"/>
            <a:lstStyle/>
            <a:p>
              <a:pPr algn="l">
                <a:lnSpc>
                  <a:spcPts val="7128"/>
                </a:lnSpc>
              </a:pPr>
              <a:r>
                <a:rPr lang="en-US" sz="6600" spc="-40">
                  <a:solidFill>
                    <a:srgbClr val="000000"/>
                  </a:solidFill>
                  <a:latin typeface="Poppins Light"/>
                  <a:ea typeface="Poppins Light"/>
                  <a:cs typeface="Poppins Light"/>
                  <a:sym typeface="Poppins Light"/>
                </a:rPr>
                <a:t>Our Objective</a:t>
              </a:r>
            </a:p>
          </p:txBody>
        </p:sp>
      </p:grpSp>
      <p:grpSp>
        <p:nvGrpSpPr>
          <p:cNvPr name="Group 8" id="8"/>
          <p:cNvGrpSpPr/>
          <p:nvPr/>
        </p:nvGrpSpPr>
        <p:grpSpPr>
          <a:xfrm rot="0">
            <a:off x="714246" y="2716863"/>
            <a:ext cx="9819156" cy="5702218"/>
            <a:chOff x="0" y="0"/>
            <a:chExt cx="2700967" cy="1568516"/>
          </a:xfrm>
        </p:grpSpPr>
        <p:sp>
          <p:nvSpPr>
            <p:cNvPr name="Freeform 9" id="9"/>
            <p:cNvSpPr/>
            <p:nvPr/>
          </p:nvSpPr>
          <p:spPr>
            <a:xfrm flipH="false" flipV="false" rot="0">
              <a:off x="0" y="0"/>
              <a:ext cx="2700967" cy="1568516"/>
            </a:xfrm>
            <a:custGeom>
              <a:avLst/>
              <a:gdLst/>
              <a:ahLst/>
              <a:cxnLst/>
              <a:rect r="r" b="b" t="t" l="l"/>
              <a:pathLst>
                <a:path h="1568516" w="2700967">
                  <a:moveTo>
                    <a:pt x="38634" y="0"/>
                  </a:moveTo>
                  <a:lnTo>
                    <a:pt x="2662332" y="0"/>
                  </a:lnTo>
                  <a:cubicBezTo>
                    <a:pt x="2683670" y="0"/>
                    <a:pt x="2700967" y="17297"/>
                    <a:pt x="2700967" y="38634"/>
                  </a:cubicBezTo>
                  <a:lnTo>
                    <a:pt x="2700967" y="1529882"/>
                  </a:lnTo>
                  <a:cubicBezTo>
                    <a:pt x="2700967" y="1551219"/>
                    <a:pt x="2683670" y="1568516"/>
                    <a:pt x="2662332" y="1568516"/>
                  </a:cubicBezTo>
                  <a:lnTo>
                    <a:pt x="38634" y="1568516"/>
                  </a:lnTo>
                  <a:cubicBezTo>
                    <a:pt x="17297" y="1568516"/>
                    <a:pt x="0" y="1551219"/>
                    <a:pt x="0" y="1529882"/>
                  </a:cubicBezTo>
                  <a:lnTo>
                    <a:pt x="0" y="38634"/>
                  </a:lnTo>
                  <a:cubicBezTo>
                    <a:pt x="0" y="17297"/>
                    <a:pt x="17297" y="0"/>
                    <a:pt x="38634" y="0"/>
                  </a:cubicBezTo>
                  <a:close/>
                </a:path>
              </a:pathLst>
            </a:custGeom>
            <a:solidFill>
              <a:srgbClr val="E2A9F1"/>
            </a:solidFill>
          </p:spPr>
        </p:sp>
        <p:sp>
          <p:nvSpPr>
            <p:cNvPr name="TextBox 10" id="10"/>
            <p:cNvSpPr txBox="true"/>
            <p:nvPr/>
          </p:nvSpPr>
          <p:spPr>
            <a:xfrm>
              <a:off x="0" y="-9525"/>
              <a:ext cx="2700967" cy="1578041"/>
            </a:xfrm>
            <a:prstGeom prst="rect">
              <a:avLst/>
            </a:prstGeom>
          </p:spPr>
          <p:txBody>
            <a:bodyPr anchor="ctr" rtlCol="false" tIns="18487" lIns="18487" bIns="18487" rIns="18487"/>
            <a:lstStyle/>
            <a:p>
              <a:pPr algn="ctr">
                <a:lnSpc>
                  <a:spcPts val="1222"/>
                </a:lnSpc>
              </a:pPr>
            </a:p>
          </p:txBody>
        </p:sp>
      </p:grpSp>
      <p:grpSp>
        <p:nvGrpSpPr>
          <p:cNvPr name="Group 11" id="11"/>
          <p:cNvGrpSpPr/>
          <p:nvPr/>
        </p:nvGrpSpPr>
        <p:grpSpPr>
          <a:xfrm rot="0">
            <a:off x="10999267" y="5197188"/>
            <a:ext cx="6467951" cy="3780473"/>
            <a:chOff x="0" y="0"/>
            <a:chExt cx="2458869" cy="1437192"/>
          </a:xfrm>
        </p:grpSpPr>
        <p:sp>
          <p:nvSpPr>
            <p:cNvPr name="Freeform 12" id="12"/>
            <p:cNvSpPr/>
            <p:nvPr/>
          </p:nvSpPr>
          <p:spPr>
            <a:xfrm flipH="false" flipV="false" rot="0">
              <a:off x="0" y="0"/>
              <a:ext cx="2458869" cy="1437192"/>
            </a:xfrm>
            <a:custGeom>
              <a:avLst/>
              <a:gdLst/>
              <a:ahLst/>
              <a:cxnLst/>
              <a:rect r="r" b="b" t="t" l="l"/>
              <a:pathLst>
                <a:path h="1437192" w="2458869">
                  <a:moveTo>
                    <a:pt x="0" y="0"/>
                  </a:moveTo>
                  <a:lnTo>
                    <a:pt x="2458869" y="0"/>
                  </a:lnTo>
                  <a:lnTo>
                    <a:pt x="2458869" y="1437192"/>
                  </a:lnTo>
                  <a:lnTo>
                    <a:pt x="0" y="1437192"/>
                  </a:lnTo>
                  <a:close/>
                </a:path>
              </a:pathLst>
            </a:custGeom>
            <a:solidFill>
              <a:srgbClr val="FFFFFF"/>
            </a:solidFill>
          </p:spPr>
        </p:sp>
        <p:sp>
          <p:nvSpPr>
            <p:cNvPr name="TextBox 13" id="13"/>
            <p:cNvSpPr txBox="true"/>
            <p:nvPr/>
          </p:nvSpPr>
          <p:spPr>
            <a:xfrm>
              <a:off x="0" y="-9525"/>
              <a:ext cx="2458869" cy="1446717"/>
            </a:xfrm>
            <a:prstGeom prst="rect">
              <a:avLst/>
            </a:prstGeom>
          </p:spPr>
          <p:txBody>
            <a:bodyPr anchor="ctr" rtlCol="false" tIns="18487" lIns="18487" bIns="18487" rIns="18487"/>
            <a:lstStyle/>
            <a:p>
              <a:pPr algn="ctr">
                <a:lnSpc>
                  <a:spcPts val="1222"/>
                </a:lnSpc>
              </a:pPr>
            </a:p>
          </p:txBody>
        </p:sp>
      </p:grpSp>
      <p:sp>
        <p:nvSpPr>
          <p:cNvPr name="Freeform 14" id="14"/>
          <p:cNvSpPr/>
          <p:nvPr/>
        </p:nvSpPr>
        <p:spPr>
          <a:xfrm flipH="false" flipV="false" rot="0">
            <a:off x="11355823" y="5143500"/>
            <a:ext cx="5754838" cy="3834161"/>
          </a:xfrm>
          <a:custGeom>
            <a:avLst/>
            <a:gdLst/>
            <a:ahLst/>
            <a:cxnLst/>
            <a:rect r="r" b="b" t="t" l="l"/>
            <a:pathLst>
              <a:path h="3834161" w="5754838">
                <a:moveTo>
                  <a:pt x="0" y="0"/>
                </a:moveTo>
                <a:lnTo>
                  <a:pt x="5754839" y="0"/>
                </a:lnTo>
                <a:lnTo>
                  <a:pt x="5754839" y="3834161"/>
                </a:lnTo>
                <a:lnTo>
                  <a:pt x="0" y="3834161"/>
                </a:lnTo>
                <a:lnTo>
                  <a:pt x="0" y="0"/>
                </a:lnTo>
                <a:close/>
              </a:path>
            </a:pathLst>
          </a:custGeom>
          <a:blipFill>
            <a:blip r:embed="rId3"/>
            <a:stretch>
              <a:fillRect l="0" t="0" r="0" b="0"/>
            </a:stretch>
          </a:blipFill>
        </p:spPr>
      </p:sp>
      <p:sp>
        <p:nvSpPr>
          <p:cNvPr name="TextBox 15" id="15"/>
          <p:cNvSpPr txBox="true"/>
          <p:nvPr/>
        </p:nvSpPr>
        <p:spPr>
          <a:xfrm rot="0">
            <a:off x="10999267" y="1503759"/>
            <a:ext cx="4329246" cy="2388108"/>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Calibri (MS)"/>
                <a:ea typeface="Calibri (MS)"/>
                <a:cs typeface="Calibri (MS)"/>
                <a:sym typeface="Calibri (MS)"/>
              </a:rPr>
              <a:t>IMU SENSORTS</a:t>
            </a:r>
          </a:p>
          <a:p>
            <a:pPr algn="l" marL="760095" indent="-380048" lvl="1">
              <a:lnSpc>
                <a:spcPts val="4536"/>
              </a:lnSpc>
              <a:buFont typeface="Arial"/>
              <a:buChar char="•"/>
            </a:pPr>
            <a:r>
              <a:rPr lang="en-US" sz="4200">
                <a:solidFill>
                  <a:srgbClr val="000000"/>
                </a:solidFill>
                <a:latin typeface="Calibri (MS)"/>
                <a:ea typeface="Calibri (MS)"/>
                <a:cs typeface="Calibri (MS)"/>
                <a:sym typeface="Calibri (MS)"/>
              </a:rPr>
              <a:t>UNITY 3D (Game Engine)</a:t>
            </a:r>
          </a:p>
          <a:p>
            <a:pPr algn="l" marL="760095" indent="-380048" lvl="1">
              <a:lnSpc>
                <a:spcPts val="4536"/>
              </a:lnSpc>
            </a:pPr>
          </a:p>
        </p:txBody>
      </p:sp>
      <p:sp>
        <p:nvSpPr>
          <p:cNvPr name="TextBox 16" id="16"/>
          <p:cNvSpPr txBox="true"/>
          <p:nvPr/>
        </p:nvSpPr>
        <p:spPr>
          <a:xfrm rot="0">
            <a:off x="1028700" y="2951389"/>
            <a:ext cx="9124079" cy="4965165"/>
          </a:xfrm>
          <a:prstGeom prst="rect">
            <a:avLst/>
          </a:prstGeom>
        </p:spPr>
        <p:txBody>
          <a:bodyPr anchor="t" rtlCol="false" tIns="0" lIns="0" bIns="0" rIns="0">
            <a:spAutoFit/>
          </a:bodyPr>
          <a:lstStyle/>
          <a:p>
            <a:pPr algn="ctr">
              <a:lnSpc>
                <a:spcPts val="4820"/>
              </a:lnSpc>
              <a:spcBef>
                <a:spcPct val="0"/>
              </a:spcBef>
            </a:pPr>
            <a:r>
              <a:rPr lang="en-US" sz="4463">
                <a:solidFill>
                  <a:srgbClr val="000000"/>
                </a:solidFill>
                <a:latin typeface="Calibri (MS)"/>
                <a:ea typeface="Calibri (MS)"/>
                <a:cs typeface="Calibri (MS)"/>
                <a:sym typeface="Calibri (MS)"/>
              </a:rPr>
              <a:t>The open-source software SlimeVR Server was used to receive and process raw sensor data. To enable real-time data streaming into the Unity3D environment, the Virtual Motion Capture (VMC) protocol and Open Sound Control (OSC) were activated within the SlimeVR Server.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l">
                <a:lnSpc>
                  <a:spcPts val="7128"/>
                </a:lnSpc>
              </a:pPr>
              <a:r>
                <a:rPr lang="en-US" sz="6600" spc="-40">
                  <a:solidFill>
                    <a:srgbClr val="000000"/>
                  </a:solidFill>
                  <a:latin typeface="Poppins Light"/>
                  <a:ea typeface="Poppins Light"/>
                  <a:cs typeface="Poppins Light"/>
                  <a:sym typeface="Poppins Light"/>
                </a:rPr>
                <a:t>System Architecture </a:t>
              </a:r>
            </a:p>
          </p:txBody>
        </p:sp>
      </p:grpSp>
      <p:sp>
        <p:nvSpPr>
          <p:cNvPr name="TextBox 5" id="5"/>
          <p:cNvSpPr txBox="true"/>
          <p:nvPr/>
        </p:nvSpPr>
        <p:spPr>
          <a:xfrm rot="0">
            <a:off x="10129535" y="3744377"/>
            <a:ext cx="5283979" cy="3454908"/>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Glacial Indifference"/>
                <a:ea typeface="Glacial Indifference"/>
                <a:cs typeface="Glacial Indifference"/>
                <a:sym typeface="Glacial Indifference"/>
              </a:rPr>
              <a:t>SlimeVR sensors</a:t>
            </a:r>
          </a:p>
          <a:p>
            <a:pPr algn="l" marL="760095" indent="-380048" lvl="1">
              <a:lnSpc>
                <a:spcPts val="4536"/>
              </a:lnSpc>
              <a:buFont typeface="Arial"/>
              <a:buChar char="•"/>
            </a:pPr>
            <a:r>
              <a:rPr lang="en-US" sz="4200">
                <a:solidFill>
                  <a:srgbClr val="000000"/>
                </a:solidFill>
                <a:latin typeface="Glacial Indifference"/>
                <a:ea typeface="Glacial Indifference"/>
                <a:cs typeface="Glacial Indifference"/>
                <a:sym typeface="Glacial Indifference"/>
              </a:rPr>
              <a:t>SlimeVR server</a:t>
            </a:r>
          </a:p>
          <a:p>
            <a:pPr algn="l" marL="760095" indent="-380048" lvl="1">
              <a:lnSpc>
                <a:spcPts val="4536"/>
              </a:lnSpc>
              <a:buFont typeface="Arial"/>
              <a:buChar char="•"/>
            </a:pPr>
            <a:r>
              <a:rPr lang="en-US" sz="4200">
                <a:solidFill>
                  <a:srgbClr val="000000"/>
                </a:solidFill>
                <a:latin typeface="Glacial Indifference"/>
                <a:ea typeface="Glacial Indifference"/>
                <a:cs typeface="Glacial Indifference"/>
                <a:sym typeface="Glacial Indifference"/>
              </a:rPr>
              <a:t>OSC/VMC</a:t>
            </a:r>
          </a:p>
          <a:p>
            <a:pPr algn="l" marL="760095" indent="-380048" lvl="1">
              <a:lnSpc>
                <a:spcPts val="4536"/>
              </a:lnSpc>
              <a:buFont typeface="Arial"/>
              <a:buChar char="•"/>
            </a:pPr>
            <a:r>
              <a:rPr lang="en-US" sz="4200">
                <a:solidFill>
                  <a:srgbClr val="000000"/>
                </a:solidFill>
                <a:latin typeface="Glacial Indifference"/>
                <a:ea typeface="Glacial Indifference"/>
                <a:cs typeface="Glacial Indifference"/>
                <a:sym typeface="Glacial Indifference"/>
              </a:rPr>
              <a:t>Unity3D</a:t>
            </a:r>
          </a:p>
          <a:p>
            <a:pPr algn="l" marL="760095" indent="-380048" lvl="1">
              <a:lnSpc>
                <a:spcPts val="4536"/>
              </a:lnSpc>
              <a:buFont typeface="Arial"/>
              <a:buChar char="•"/>
            </a:pPr>
            <a:r>
              <a:rPr lang="en-US" sz="4200">
                <a:solidFill>
                  <a:srgbClr val="000000"/>
                </a:solidFill>
                <a:latin typeface="Glacial Indifference"/>
                <a:ea typeface="Glacial Indifference"/>
                <a:cs typeface="Glacial Indifference"/>
                <a:sym typeface="Glacial Indifference"/>
              </a:rPr>
              <a:t>Avatar VRM</a:t>
            </a:r>
          </a:p>
          <a:p>
            <a:pPr algn="l" marL="760095" indent="-380048" lvl="1">
              <a:lnSpc>
                <a:spcPts val="4536"/>
              </a:lnSpc>
            </a:pPr>
          </a:p>
        </p:txBody>
      </p:sp>
      <p:grpSp>
        <p:nvGrpSpPr>
          <p:cNvPr name="Group 6" id="6"/>
          <p:cNvGrpSpPr/>
          <p:nvPr/>
        </p:nvGrpSpPr>
        <p:grpSpPr>
          <a:xfrm rot="0">
            <a:off x="-742277" y="3543118"/>
            <a:ext cx="10516355" cy="4390826"/>
            <a:chOff x="0" y="0"/>
            <a:chExt cx="3997919" cy="1669225"/>
          </a:xfrm>
        </p:grpSpPr>
        <p:sp>
          <p:nvSpPr>
            <p:cNvPr name="Freeform 7" id="7"/>
            <p:cNvSpPr/>
            <p:nvPr/>
          </p:nvSpPr>
          <p:spPr>
            <a:xfrm flipH="false" flipV="false" rot="0">
              <a:off x="0" y="0"/>
              <a:ext cx="3997918" cy="1669225"/>
            </a:xfrm>
            <a:custGeom>
              <a:avLst/>
              <a:gdLst/>
              <a:ahLst/>
              <a:cxnLst/>
              <a:rect r="r" b="b" t="t" l="l"/>
              <a:pathLst>
                <a:path h="1669225" w="3997918">
                  <a:moveTo>
                    <a:pt x="0" y="0"/>
                  </a:moveTo>
                  <a:lnTo>
                    <a:pt x="3997918" y="0"/>
                  </a:lnTo>
                  <a:lnTo>
                    <a:pt x="3997918" y="1669225"/>
                  </a:lnTo>
                  <a:lnTo>
                    <a:pt x="0" y="1669225"/>
                  </a:lnTo>
                  <a:close/>
                </a:path>
              </a:pathLst>
            </a:custGeom>
            <a:solidFill>
              <a:srgbClr val="B5AFAE"/>
            </a:solidFill>
          </p:spPr>
        </p:sp>
        <p:sp>
          <p:nvSpPr>
            <p:cNvPr name="TextBox 8" id="8"/>
            <p:cNvSpPr txBox="true"/>
            <p:nvPr/>
          </p:nvSpPr>
          <p:spPr>
            <a:xfrm>
              <a:off x="0" y="-9525"/>
              <a:ext cx="3997919" cy="1678750"/>
            </a:xfrm>
            <a:prstGeom prst="rect">
              <a:avLst/>
            </a:prstGeom>
          </p:spPr>
          <p:txBody>
            <a:bodyPr anchor="ctr" rtlCol="false" tIns="18487" lIns="18487" bIns="18487" rIns="18487"/>
            <a:lstStyle/>
            <a:p>
              <a:pPr algn="ctr">
                <a:lnSpc>
                  <a:spcPts val="1222"/>
                </a:lnSpc>
              </a:pPr>
            </a:p>
          </p:txBody>
        </p:sp>
      </p:grpSp>
      <p:grpSp>
        <p:nvGrpSpPr>
          <p:cNvPr name="Group 9" id="9"/>
          <p:cNvGrpSpPr/>
          <p:nvPr/>
        </p:nvGrpSpPr>
        <p:grpSpPr>
          <a:xfrm rot="0">
            <a:off x="-154305" y="3543118"/>
            <a:ext cx="9606915" cy="4390826"/>
            <a:chOff x="0" y="0"/>
            <a:chExt cx="3652184" cy="1669225"/>
          </a:xfrm>
        </p:grpSpPr>
        <p:sp>
          <p:nvSpPr>
            <p:cNvPr name="Freeform 10" id="10"/>
            <p:cNvSpPr/>
            <p:nvPr/>
          </p:nvSpPr>
          <p:spPr>
            <a:xfrm flipH="false" flipV="false" rot="0">
              <a:off x="0" y="0"/>
              <a:ext cx="3652184" cy="1669225"/>
            </a:xfrm>
            <a:custGeom>
              <a:avLst/>
              <a:gdLst/>
              <a:ahLst/>
              <a:cxnLst/>
              <a:rect r="r" b="b" t="t" l="l"/>
              <a:pathLst>
                <a:path h="1669225" w="3652184">
                  <a:moveTo>
                    <a:pt x="0" y="0"/>
                  </a:moveTo>
                  <a:lnTo>
                    <a:pt x="3652184" y="0"/>
                  </a:lnTo>
                  <a:lnTo>
                    <a:pt x="3652184" y="1669225"/>
                  </a:lnTo>
                  <a:lnTo>
                    <a:pt x="0" y="1669225"/>
                  </a:lnTo>
                  <a:close/>
                </a:path>
              </a:pathLst>
            </a:custGeom>
            <a:solidFill>
              <a:srgbClr val="E2A9F1"/>
            </a:solidFill>
          </p:spPr>
        </p:sp>
        <p:sp>
          <p:nvSpPr>
            <p:cNvPr name="TextBox 11" id="11"/>
            <p:cNvSpPr txBox="true"/>
            <p:nvPr/>
          </p:nvSpPr>
          <p:spPr>
            <a:xfrm>
              <a:off x="0" y="-9525"/>
              <a:ext cx="3652184" cy="1678750"/>
            </a:xfrm>
            <a:prstGeom prst="rect">
              <a:avLst/>
            </a:prstGeom>
          </p:spPr>
          <p:txBody>
            <a:bodyPr anchor="ctr" rtlCol="false" tIns="18487" lIns="18487" bIns="18487" rIns="18487"/>
            <a:lstStyle/>
            <a:p>
              <a:pPr algn="ctr">
                <a:lnSpc>
                  <a:spcPts val="1222"/>
                </a:lnSpc>
              </a:pPr>
            </a:p>
          </p:txBody>
        </p:sp>
      </p:grpSp>
      <p:sp>
        <p:nvSpPr>
          <p:cNvPr name="TextBox 12" id="12"/>
          <p:cNvSpPr txBox="true"/>
          <p:nvPr/>
        </p:nvSpPr>
        <p:spPr>
          <a:xfrm rot="0">
            <a:off x="844798" y="3668177"/>
            <a:ext cx="8102145" cy="4102608"/>
          </a:xfrm>
          <a:prstGeom prst="rect">
            <a:avLst/>
          </a:prstGeom>
        </p:spPr>
        <p:txBody>
          <a:bodyPr anchor="t" rtlCol="false" tIns="0" lIns="0" bIns="0" rIns="0">
            <a:spAutoFit/>
          </a:bodyPr>
          <a:lstStyle/>
          <a:p>
            <a:pPr algn="ctr">
              <a:lnSpc>
                <a:spcPts val="4536"/>
              </a:lnSpc>
              <a:spcBef>
                <a:spcPct val="0"/>
              </a:spcBef>
            </a:pPr>
            <a:r>
              <a:rPr lang="en-US" sz="4200">
                <a:solidFill>
                  <a:srgbClr val="000000"/>
                </a:solidFill>
                <a:latin typeface="Calibri (MS)"/>
                <a:ea typeface="Calibri (MS)"/>
                <a:cs typeface="Calibri (MS)"/>
                <a:sym typeface="Calibri (MS)"/>
              </a:rPr>
              <a:t>The system includes a set of interactive scenes that structure the user’s experience, beginning with an instruction screen, followed by a main menu and two independent exercise modules focused on knee and shoulder rehabilitation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3569"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Placement of sensors</a:t>
              </a:r>
            </a:p>
          </p:txBody>
        </p:sp>
      </p:grpSp>
      <p:grpSp>
        <p:nvGrpSpPr>
          <p:cNvPr name="Group 5" id="5"/>
          <p:cNvGrpSpPr/>
          <p:nvPr/>
        </p:nvGrpSpPr>
        <p:grpSpPr>
          <a:xfrm rot="0">
            <a:off x="8613082" y="4148479"/>
            <a:ext cx="10048979" cy="4487417"/>
            <a:chOff x="0" y="0"/>
            <a:chExt cx="2214755" cy="989009"/>
          </a:xfrm>
        </p:grpSpPr>
        <p:sp>
          <p:nvSpPr>
            <p:cNvPr name="Freeform 6" id="6"/>
            <p:cNvSpPr/>
            <p:nvPr/>
          </p:nvSpPr>
          <p:spPr>
            <a:xfrm flipH="false" flipV="false" rot="0">
              <a:off x="0" y="0"/>
              <a:ext cx="2214755" cy="989009"/>
            </a:xfrm>
            <a:custGeom>
              <a:avLst/>
              <a:gdLst/>
              <a:ahLst/>
              <a:cxnLst/>
              <a:rect r="r" b="b" t="t" l="l"/>
              <a:pathLst>
                <a:path h="989009" w="2214755">
                  <a:moveTo>
                    <a:pt x="11556" y="0"/>
                  </a:moveTo>
                  <a:lnTo>
                    <a:pt x="2203199" y="0"/>
                  </a:lnTo>
                  <a:cubicBezTo>
                    <a:pt x="2206264" y="0"/>
                    <a:pt x="2209203" y="1218"/>
                    <a:pt x="2211370" y="3385"/>
                  </a:cubicBezTo>
                  <a:cubicBezTo>
                    <a:pt x="2213538" y="5552"/>
                    <a:pt x="2214755" y="8491"/>
                    <a:pt x="2214755" y="11556"/>
                  </a:cubicBezTo>
                  <a:lnTo>
                    <a:pt x="2214755" y="977453"/>
                  </a:lnTo>
                  <a:cubicBezTo>
                    <a:pt x="2214755" y="980518"/>
                    <a:pt x="2213538" y="983457"/>
                    <a:pt x="2211370" y="985624"/>
                  </a:cubicBezTo>
                  <a:cubicBezTo>
                    <a:pt x="2209203" y="987791"/>
                    <a:pt x="2206264" y="989009"/>
                    <a:pt x="2203199" y="989009"/>
                  </a:cubicBezTo>
                  <a:lnTo>
                    <a:pt x="11556" y="989009"/>
                  </a:lnTo>
                  <a:cubicBezTo>
                    <a:pt x="8491" y="989009"/>
                    <a:pt x="5552" y="987791"/>
                    <a:pt x="3385" y="985624"/>
                  </a:cubicBezTo>
                  <a:cubicBezTo>
                    <a:pt x="1218" y="983457"/>
                    <a:pt x="0" y="980518"/>
                    <a:pt x="0" y="977453"/>
                  </a:cubicBezTo>
                  <a:lnTo>
                    <a:pt x="0" y="11556"/>
                  </a:lnTo>
                  <a:cubicBezTo>
                    <a:pt x="0" y="8491"/>
                    <a:pt x="1218" y="5552"/>
                    <a:pt x="3385" y="3385"/>
                  </a:cubicBezTo>
                  <a:cubicBezTo>
                    <a:pt x="5552" y="1218"/>
                    <a:pt x="8491" y="0"/>
                    <a:pt x="11556" y="0"/>
                  </a:cubicBezTo>
                  <a:close/>
                </a:path>
              </a:pathLst>
            </a:custGeom>
            <a:solidFill>
              <a:srgbClr val="E2A9F1"/>
            </a:solidFill>
          </p:spPr>
        </p:sp>
        <p:sp>
          <p:nvSpPr>
            <p:cNvPr name="TextBox 7" id="7"/>
            <p:cNvSpPr txBox="true"/>
            <p:nvPr/>
          </p:nvSpPr>
          <p:spPr>
            <a:xfrm>
              <a:off x="0" y="-9525"/>
              <a:ext cx="2214755" cy="998534"/>
            </a:xfrm>
            <a:prstGeom prst="rect">
              <a:avLst/>
            </a:prstGeom>
          </p:spPr>
          <p:txBody>
            <a:bodyPr anchor="ctr" rtlCol="false" tIns="18487" lIns="18487" bIns="18487" rIns="18487"/>
            <a:lstStyle/>
            <a:p>
              <a:pPr algn="ctr">
                <a:lnSpc>
                  <a:spcPts val="1222"/>
                </a:lnSpc>
              </a:pPr>
            </a:p>
          </p:txBody>
        </p:sp>
      </p:grpSp>
      <p:grpSp>
        <p:nvGrpSpPr>
          <p:cNvPr name="Group 8" id="8"/>
          <p:cNvGrpSpPr/>
          <p:nvPr/>
        </p:nvGrpSpPr>
        <p:grpSpPr>
          <a:xfrm rot="0">
            <a:off x="0" y="-228082"/>
            <a:ext cx="877729" cy="10515082"/>
            <a:chOff x="0" y="0"/>
            <a:chExt cx="333679" cy="3997434"/>
          </a:xfrm>
        </p:grpSpPr>
        <p:sp>
          <p:nvSpPr>
            <p:cNvPr name="Freeform 9" id="9"/>
            <p:cNvSpPr/>
            <p:nvPr/>
          </p:nvSpPr>
          <p:spPr>
            <a:xfrm flipH="false" flipV="false" rot="0">
              <a:off x="0" y="0"/>
              <a:ext cx="333679" cy="3997434"/>
            </a:xfrm>
            <a:custGeom>
              <a:avLst/>
              <a:gdLst/>
              <a:ahLst/>
              <a:cxnLst/>
              <a:rect r="r" b="b" t="t" l="l"/>
              <a:pathLst>
                <a:path h="3997434" w="333679">
                  <a:moveTo>
                    <a:pt x="0" y="0"/>
                  </a:moveTo>
                  <a:lnTo>
                    <a:pt x="333679" y="0"/>
                  </a:lnTo>
                  <a:lnTo>
                    <a:pt x="333679" y="3997434"/>
                  </a:lnTo>
                  <a:lnTo>
                    <a:pt x="0" y="3997434"/>
                  </a:lnTo>
                  <a:close/>
                </a:path>
              </a:pathLst>
            </a:custGeom>
            <a:solidFill>
              <a:srgbClr val="674194"/>
            </a:solidFill>
          </p:spPr>
        </p:sp>
        <p:sp>
          <p:nvSpPr>
            <p:cNvPr name="TextBox 10" id="10"/>
            <p:cNvSpPr txBox="true"/>
            <p:nvPr/>
          </p:nvSpPr>
          <p:spPr>
            <a:xfrm>
              <a:off x="0" y="-9525"/>
              <a:ext cx="333679" cy="4006959"/>
            </a:xfrm>
            <a:prstGeom prst="rect">
              <a:avLst/>
            </a:prstGeom>
          </p:spPr>
          <p:txBody>
            <a:bodyPr anchor="ctr" rtlCol="false" tIns="18487" lIns="18487" bIns="18487" rIns="18487"/>
            <a:lstStyle/>
            <a:p>
              <a:pPr algn="ctr">
                <a:lnSpc>
                  <a:spcPts val="1222"/>
                </a:lnSpc>
              </a:pPr>
            </a:p>
          </p:txBody>
        </p:sp>
      </p:grpSp>
      <p:sp>
        <p:nvSpPr>
          <p:cNvPr name="Freeform 11" id="11"/>
          <p:cNvSpPr/>
          <p:nvPr/>
        </p:nvSpPr>
        <p:spPr>
          <a:xfrm flipH="false" flipV="false" rot="0">
            <a:off x="2611283" y="3439606"/>
            <a:ext cx="2942283" cy="5818694"/>
          </a:xfrm>
          <a:custGeom>
            <a:avLst/>
            <a:gdLst/>
            <a:ahLst/>
            <a:cxnLst/>
            <a:rect r="r" b="b" t="t" l="l"/>
            <a:pathLst>
              <a:path h="5818694" w="2942283">
                <a:moveTo>
                  <a:pt x="0" y="0"/>
                </a:moveTo>
                <a:lnTo>
                  <a:pt x="2942283" y="0"/>
                </a:lnTo>
                <a:lnTo>
                  <a:pt x="2942283" y="5818694"/>
                </a:lnTo>
                <a:lnTo>
                  <a:pt x="0" y="5818694"/>
                </a:lnTo>
                <a:lnTo>
                  <a:pt x="0" y="0"/>
                </a:lnTo>
                <a:close/>
              </a:path>
            </a:pathLst>
          </a:custGeom>
          <a:blipFill>
            <a:blip r:embed="rId3"/>
            <a:stretch>
              <a:fillRect l="0" t="0" r="0" b="0"/>
            </a:stretch>
          </a:blipFill>
        </p:spPr>
      </p:sp>
      <p:sp>
        <p:nvSpPr>
          <p:cNvPr name="TextBox 12" id="12"/>
          <p:cNvSpPr txBox="true"/>
          <p:nvPr/>
        </p:nvSpPr>
        <p:spPr>
          <a:xfrm rot="0">
            <a:off x="1348740" y="2497932"/>
            <a:ext cx="15590520" cy="673608"/>
          </a:xfrm>
          <a:prstGeom prst="rect">
            <a:avLst/>
          </a:prstGeom>
        </p:spPr>
        <p:txBody>
          <a:bodyPr anchor="t" rtlCol="false" tIns="0" lIns="0" bIns="0" rIns="0">
            <a:spAutoFit/>
          </a:bodyPr>
          <a:lstStyle/>
          <a:p>
            <a:pPr algn="ctr">
              <a:lnSpc>
                <a:spcPts val="4536"/>
              </a:lnSpc>
            </a:pPr>
            <a:r>
              <a:rPr lang="en-US" sz="4200">
                <a:solidFill>
                  <a:srgbClr val="000000"/>
                </a:solidFill>
                <a:latin typeface="Calibri (MS)"/>
                <a:ea typeface="Calibri (MS)"/>
                <a:cs typeface="Calibri (MS)"/>
                <a:sym typeface="Calibri (MS)"/>
              </a:rPr>
              <a:t>(Body image with 5 targets (1 per sensor, chest, legs, arms) </a:t>
            </a:r>
          </a:p>
        </p:txBody>
      </p:sp>
      <p:sp>
        <p:nvSpPr>
          <p:cNvPr name="TextBox 13" id="13"/>
          <p:cNvSpPr txBox="true"/>
          <p:nvPr/>
        </p:nvSpPr>
        <p:spPr>
          <a:xfrm rot="0">
            <a:off x="9144000" y="4321834"/>
            <a:ext cx="6914715" cy="4102608"/>
          </a:xfrm>
          <a:prstGeom prst="rect">
            <a:avLst/>
          </a:prstGeom>
        </p:spPr>
        <p:txBody>
          <a:bodyPr anchor="t" rtlCol="false" tIns="0" lIns="0" bIns="0" rIns="0">
            <a:spAutoFit/>
          </a:bodyPr>
          <a:lstStyle/>
          <a:p>
            <a:pPr algn="ctr">
              <a:lnSpc>
                <a:spcPts val="4536"/>
              </a:lnSpc>
              <a:spcBef>
                <a:spcPct val="0"/>
              </a:spcBef>
            </a:pPr>
            <a:r>
              <a:rPr lang="en-US" sz="4200">
                <a:solidFill>
                  <a:srgbClr val="000000"/>
                </a:solidFill>
                <a:latin typeface="Calibri (MS)"/>
                <a:ea typeface="Calibri (MS)"/>
                <a:cs typeface="Calibri (MS)"/>
                <a:sym typeface="Calibri (MS)"/>
              </a:rPr>
              <a:t>The sensor configuration</a:t>
            </a:r>
            <a:r>
              <a:rPr lang="en-US" sz="4200">
                <a:solidFill>
                  <a:srgbClr val="000000"/>
                </a:solidFill>
                <a:latin typeface="Calibri (MS)"/>
                <a:ea typeface="Calibri (MS)"/>
                <a:cs typeface="Calibri (MS)"/>
                <a:sym typeface="Calibri (MS)"/>
              </a:rPr>
              <a:t> consisted of five identical SlimeVR inertial sensors, placed on the following body segments: chest, both arms (above the elbow), and both legs (above the knee).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54405" y="2201630"/>
            <a:ext cx="12347733" cy="7056670"/>
            <a:chOff x="0" y="0"/>
            <a:chExt cx="4694139" cy="2682678"/>
          </a:xfrm>
        </p:grpSpPr>
        <p:sp>
          <p:nvSpPr>
            <p:cNvPr name="Freeform 3" id="3"/>
            <p:cNvSpPr/>
            <p:nvPr/>
          </p:nvSpPr>
          <p:spPr>
            <a:xfrm flipH="false" flipV="false" rot="0">
              <a:off x="0" y="0"/>
              <a:ext cx="4694139" cy="2682678"/>
            </a:xfrm>
            <a:custGeom>
              <a:avLst/>
              <a:gdLst/>
              <a:ahLst/>
              <a:cxnLst/>
              <a:rect r="r" b="b" t="t" l="l"/>
              <a:pathLst>
                <a:path h="2682678" w="4694139">
                  <a:moveTo>
                    <a:pt x="2508" y="0"/>
                  </a:moveTo>
                  <a:lnTo>
                    <a:pt x="4691631" y="0"/>
                  </a:lnTo>
                  <a:cubicBezTo>
                    <a:pt x="4692296" y="0"/>
                    <a:pt x="4692934" y="264"/>
                    <a:pt x="4693405" y="735"/>
                  </a:cubicBezTo>
                  <a:cubicBezTo>
                    <a:pt x="4693875" y="1205"/>
                    <a:pt x="4694139" y="1843"/>
                    <a:pt x="4694139" y="2508"/>
                  </a:cubicBezTo>
                  <a:lnTo>
                    <a:pt x="4694139" y="2680170"/>
                  </a:lnTo>
                  <a:cubicBezTo>
                    <a:pt x="4694139" y="2681555"/>
                    <a:pt x="4693016" y="2682678"/>
                    <a:pt x="4691631" y="2682678"/>
                  </a:cubicBezTo>
                  <a:lnTo>
                    <a:pt x="2508" y="2682678"/>
                  </a:lnTo>
                  <a:cubicBezTo>
                    <a:pt x="1123" y="2682678"/>
                    <a:pt x="0" y="2681555"/>
                    <a:pt x="0" y="2680170"/>
                  </a:cubicBezTo>
                  <a:lnTo>
                    <a:pt x="0" y="2508"/>
                  </a:lnTo>
                  <a:cubicBezTo>
                    <a:pt x="0" y="1123"/>
                    <a:pt x="1123" y="0"/>
                    <a:pt x="2508" y="0"/>
                  </a:cubicBezTo>
                  <a:close/>
                </a:path>
              </a:pathLst>
            </a:custGeom>
            <a:solidFill>
              <a:srgbClr val="E2A9F1"/>
            </a:solidFill>
          </p:spPr>
        </p:sp>
        <p:sp>
          <p:nvSpPr>
            <p:cNvPr name="TextBox 4" id="4"/>
            <p:cNvSpPr txBox="true"/>
            <p:nvPr/>
          </p:nvSpPr>
          <p:spPr>
            <a:xfrm>
              <a:off x="0" y="-9525"/>
              <a:ext cx="4694139" cy="2692203"/>
            </a:xfrm>
            <a:prstGeom prst="rect">
              <a:avLst/>
            </a:prstGeom>
          </p:spPr>
          <p:txBody>
            <a:bodyPr anchor="ctr" rtlCol="false" tIns="18487" lIns="18487" bIns="18487" rIns="18487"/>
            <a:lstStyle/>
            <a:p>
              <a:pPr algn="ctr">
                <a:lnSpc>
                  <a:spcPts val="1222"/>
                </a:lnSpc>
              </a:pPr>
            </a:p>
          </p:txBody>
        </p:sp>
      </p:grpSp>
      <p:grpSp>
        <p:nvGrpSpPr>
          <p:cNvPr name="Group 5" id="5"/>
          <p:cNvGrpSpPr/>
          <p:nvPr/>
        </p:nvGrpSpPr>
        <p:grpSpPr>
          <a:xfrm rot="0">
            <a:off x="1141571" y="290513"/>
            <a:ext cx="15773400" cy="1988345"/>
            <a:chOff x="0" y="0"/>
            <a:chExt cx="21031200" cy="2651126"/>
          </a:xfrm>
        </p:grpSpPr>
        <p:sp>
          <p:nvSpPr>
            <p:cNvPr name="Freeform 6" id="6"/>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7" id="7"/>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Menu Scene</a:t>
              </a:r>
            </a:p>
          </p:txBody>
        </p:sp>
      </p:grpSp>
      <p:grpSp>
        <p:nvGrpSpPr>
          <p:cNvPr name="Group 8" id="8"/>
          <p:cNvGrpSpPr/>
          <p:nvPr/>
        </p:nvGrpSpPr>
        <p:grpSpPr>
          <a:xfrm rot="0">
            <a:off x="3623905" y="2699082"/>
            <a:ext cx="10808732" cy="6061767"/>
            <a:chOff x="0" y="0"/>
            <a:chExt cx="14411643" cy="8082356"/>
          </a:xfrm>
        </p:grpSpPr>
        <p:sp>
          <p:nvSpPr>
            <p:cNvPr name="Freeform 9" id="9"/>
            <p:cNvSpPr/>
            <p:nvPr/>
          </p:nvSpPr>
          <p:spPr>
            <a:xfrm flipH="false" flipV="false" rot="0">
              <a:off x="0" y="0"/>
              <a:ext cx="14411706" cy="8082407"/>
            </a:xfrm>
            <a:custGeom>
              <a:avLst/>
              <a:gdLst/>
              <a:ahLst/>
              <a:cxnLst/>
              <a:rect r="r" b="b" t="t" l="l"/>
              <a:pathLst>
                <a:path h="8082407" w="14411706">
                  <a:moveTo>
                    <a:pt x="0" y="0"/>
                  </a:moveTo>
                  <a:lnTo>
                    <a:pt x="14411706" y="0"/>
                  </a:lnTo>
                  <a:lnTo>
                    <a:pt x="14411706" y="8082407"/>
                  </a:lnTo>
                  <a:lnTo>
                    <a:pt x="0" y="8082407"/>
                  </a:lnTo>
                  <a:lnTo>
                    <a:pt x="0" y="0"/>
                  </a:lnTo>
                  <a:close/>
                </a:path>
              </a:pathLst>
            </a:custGeom>
            <a:blipFill>
              <a:blip r:embed="rId3"/>
              <a:stretch>
                <a:fillRect l="0" t="0" r="0" b="0"/>
              </a:stretch>
            </a:blipFill>
          </p:spPr>
        </p:sp>
      </p:grpSp>
      <p:grpSp>
        <p:nvGrpSpPr>
          <p:cNvPr name="Group 10" id="10"/>
          <p:cNvGrpSpPr/>
          <p:nvPr/>
        </p:nvGrpSpPr>
        <p:grpSpPr>
          <a:xfrm rot="0">
            <a:off x="0" y="-228082"/>
            <a:ext cx="1288626" cy="10515082"/>
            <a:chOff x="0" y="0"/>
            <a:chExt cx="489887" cy="3997434"/>
          </a:xfrm>
        </p:grpSpPr>
        <p:sp>
          <p:nvSpPr>
            <p:cNvPr name="Freeform 11" id="11"/>
            <p:cNvSpPr/>
            <p:nvPr/>
          </p:nvSpPr>
          <p:spPr>
            <a:xfrm flipH="false" flipV="false" rot="0">
              <a:off x="0" y="0"/>
              <a:ext cx="489887" cy="3997434"/>
            </a:xfrm>
            <a:custGeom>
              <a:avLst/>
              <a:gdLst/>
              <a:ahLst/>
              <a:cxnLst/>
              <a:rect r="r" b="b" t="t" l="l"/>
              <a:pathLst>
                <a:path h="3997434" w="489887">
                  <a:moveTo>
                    <a:pt x="0" y="0"/>
                  </a:moveTo>
                  <a:lnTo>
                    <a:pt x="489887" y="0"/>
                  </a:lnTo>
                  <a:lnTo>
                    <a:pt x="489887" y="3997434"/>
                  </a:lnTo>
                  <a:lnTo>
                    <a:pt x="0" y="3997434"/>
                  </a:lnTo>
                  <a:close/>
                </a:path>
              </a:pathLst>
            </a:custGeom>
            <a:solidFill>
              <a:srgbClr val="674194"/>
            </a:solidFill>
          </p:spPr>
        </p:sp>
        <p:sp>
          <p:nvSpPr>
            <p:cNvPr name="TextBox 12" id="12"/>
            <p:cNvSpPr txBox="true"/>
            <p:nvPr/>
          </p:nvSpPr>
          <p:spPr>
            <a:xfrm>
              <a:off x="0" y="-9525"/>
              <a:ext cx="489887" cy="4006959"/>
            </a:xfrm>
            <a:prstGeom prst="rect">
              <a:avLst/>
            </a:prstGeom>
          </p:spPr>
          <p:txBody>
            <a:bodyPr anchor="ctr" rtlCol="false" tIns="18487" lIns="18487" bIns="18487" rIns="18487"/>
            <a:lstStyle/>
            <a:p>
              <a:pPr algn="ctr">
                <a:lnSpc>
                  <a:spcPts val="1222"/>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0235"/>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Knee excersice scene</a:t>
              </a:r>
            </a:p>
          </p:txBody>
        </p:sp>
      </p:grpSp>
      <p:grpSp>
        <p:nvGrpSpPr>
          <p:cNvPr name="Group 5" id="5"/>
          <p:cNvGrpSpPr/>
          <p:nvPr/>
        </p:nvGrpSpPr>
        <p:grpSpPr>
          <a:xfrm rot="0">
            <a:off x="3171101" y="1931596"/>
            <a:ext cx="12874942" cy="7326704"/>
            <a:chOff x="0" y="0"/>
            <a:chExt cx="4894564" cy="2785334"/>
          </a:xfrm>
        </p:grpSpPr>
        <p:sp>
          <p:nvSpPr>
            <p:cNvPr name="Freeform 6" id="6"/>
            <p:cNvSpPr/>
            <p:nvPr/>
          </p:nvSpPr>
          <p:spPr>
            <a:xfrm flipH="false" flipV="false" rot="0">
              <a:off x="0" y="0"/>
              <a:ext cx="4894564" cy="2785334"/>
            </a:xfrm>
            <a:custGeom>
              <a:avLst/>
              <a:gdLst/>
              <a:ahLst/>
              <a:cxnLst/>
              <a:rect r="r" b="b" t="t" l="l"/>
              <a:pathLst>
                <a:path h="2785334" w="4894564">
                  <a:moveTo>
                    <a:pt x="10222" y="0"/>
                  </a:moveTo>
                  <a:lnTo>
                    <a:pt x="4884341" y="0"/>
                  </a:lnTo>
                  <a:cubicBezTo>
                    <a:pt x="4887052" y="0"/>
                    <a:pt x="4889653" y="1077"/>
                    <a:pt x="4891570" y="2994"/>
                  </a:cubicBezTo>
                  <a:cubicBezTo>
                    <a:pt x="4893487" y="4911"/>
                    <a:pt x="4894564" y="7511"/>
                    <a:pt x="4894564" y="10222"/>
                  </a:cubicBezTo>
                  <a:lnTo>
                    <a:pt x="4894564" y="2775112"/>
                  </a:lnTo>
                  <a:cubicBezTo>
                    <a:pt x="4894564" y="2780758"/>
                    <a:pt x="4889987" y="2785334"/>
                    <a:pt x="4884341" y="2785334"/>
                  </a:cubicBezTo>
                  <a:lnTo>
                    <a:pt x="10222" y="2785334"/>
                  </a:lnTo>
                  <a:cubicBezTo>
                    <a:pt x="7511" y="2785334"/>
                    <a:pt x="4911" y="2784257"/>
                    <a:pt x="2994" y="2782340"/>
                  </a:cubicBezTo>
                  <a:cubicBezTo>
                    <a:pt x="1077" y="2780423"/>
                    <a:pt x="0" y="2777823"/>
                    <a:pt x="0" y="2775112"/>
                  </a:cubicBezTo>
                  <a:lnTo>
                    <a:pt x="0" y="10222"/>
                  </a:lnTo>
                  <a:cubicBezTo>
                    <a:pt x="0" y="7511"/>
                    <a:pt x="1077" y="4911"/>
                    <a:pt x="2994" y="2994"/>
                  </a:cubicBezTo>
                  <a:cubicBezTo>
                    <a:pt x="4911" y="1077"/>
                    <a:pt x="7511" y="0"/>
                    <a:pt x="10222" y="0"/>
                  </a:cubicBezTo>
                  <a:close/>
                </a:path>
              </a:pathLst>
            </a:custGeom>
            <a:solidFill>
              <a:srgbClr val="E2A9F1"/>
            </a:solidFill>
          </p:spPr>
        </p:sp>
        <p:sp>
          <p:nvSpPr>
            <p:cNvPr name="TextBox 7" id="7"/>
            <p:cNvSpPr txBox="true"/>
            <p:nvPr/>
          </p:nvSpPr>
          <p:spPr>
            <a:xfrm>
              <a:off x="0" y="-9525"/>
              <a:ext cx="4894564" cy="2794859"/>
            </a:xfrm>
            <a:prstGeom prst="rect">
              <a:avLst/>
            </a:prstGeom>
          </p:spPr>
          <p:txBody>
            <a:bodyPr anchor="ctr" rtlCol="false" tIns="18487" lIns="18487" bIns="18487" rIns="18487"/>
            <a:lstStyle/>
            <a:p>
              <a:pPr algn="ctr">
                <a:lnSpc>
                  <a:spcPts val="1222"/>
                </a:lnSpc>
              </a:pPr>
            </a:p>
          </p:txBody>
        </p:sp>
      </p:grpSp>
      <p:grpSp>
        <p:nvGrpSpPr>
          <p:cNvPr name="Group 8" id="8"/>
          <p:cNvGrpSpPr/>
          <p:nvPr/>
        </p:nvGrpSpPr>
        <p:grpSpPr>
          <a:xfrm rot="0">
            <a:off x="4158339" y="2536031"/>
            <a:ext cx="10900467" cy="6126099"/>
            <a:chOff x="0" y="0"/>
            <a:chExt cx="14533956" cy="8168132"/>
          </a:xfrm>
        </p:grpSpPr>
        <p:sp>
          <p:nvSpPr>
            <p:cNvPr name="Freeform 9" id="9"/>
            <p:cNvSpPr/>
            <p:nvPr/>
          </p:nvSpPr>
          <p:spPr>
            <a:xfrm flipH="false" flipV="false" rot="0">
              <a:off x="0" y="0"/>
              <a:ext cx="14534007" cy="8168132"/>
            </a:xfrm>
            <a:custGeom>
              <a:avLst/>
              <a:gdLst/>
              <a:ahLst/>
              <a:cxnLst/>
              <a:rect r="r" b="b" t="t" l="l"/>
              <a:pathLst>
                <a:path h="8168132" w="14534007">
                  <a:moveTo>
                    <a:pt x="0" y="0"/>
                  </a:moveTo>
                  <a:lnTo>
                    <a:pt x="14534007" y="0"/>
                  </a:lnTo>
                  <a:lnTo>
                    <a:pt x="14534007" y="8168132"/>
                  </a:lnTo>
                  <a:lnTo>
                    <a:pt x="0" y="8168132"/>
                  </a:lnTo>
                  <a:lnTo>
                    <a:pt x="0" y="0"/>
                  </a:lnTo>
                  <a:close/>
                </a:path>
              </a:pathLst>
            </a:custGeom>
            <a:blipFill>
              <a:blip r:embed="rId3"/>
              <a:stretch>
                <a:fillRect l="0" t="0" r="0" b="0"/>
              </a:stretch>
            </a:blipFill>
          </p:spPr>
        </p:sp>
      </p:grpSp>
      <p:grpSp>
        <p:nvGrpSpPr>
          <p:cNvPr name="Group 10" id="10"/>
          <p:cNvGrpSpPr/>
          <p:nvPr/>
        </p:nvGrpSpPr>
        <p:grpSpPr>
          <a:xfrm rot="0">
            <a:off x="0" y="-228082"/>
            <a:ext cx="1288626" cy="10515082"/>
            <a:chOff x="0" y="0"/>
            <a:chExt cx="489887" cy="3997434"/>
          </a:xfrm>
        </p:grpSpPr>
        <p:sp>
          <p:nvSpPr>
            <p:cNvPr name="Freeform 11" id="11"/>
            <p:cNvSpPr/>
            <p:nvPr/>
          </p:nvSpPr>
          <p:spPr>
            <a:xfrm flipH="false" flipV="false" rot="0">
              <a:off x="0" y="0"/>
              <a:ext cx="489887" cy="3997434"/>
            </a:xfrm>
            <a:custGeom>
              <a:avLst/>
              <a:gdLst/>
              <a:ahLst/>
              <a:cxnLst/>
              <a:rect r="r" b="b" t="t" l="l"/>
              <a:pathLst>
                <a:path h="3997434" w="489887">
                  <a:moveTo>
                    <a:pt x="0" y="0"/>
                  </a:moveTo>
                  <a:lnTo>
                    <a:pt x="489887" y="0"/>
                  </a:lnTo>
                  <a:lnTo>
                    <a:pt x="489887" y="3997434"/>
                  </a:lnTo>
                  <a:lnTo>
                    <a:pt x="0" y="3997434"/>
                  </a:lnTo>
                  <a:close/>
                </a:path>
              </a:pathLst>
            </a:custGeom>
            <a:solidFill>
              <a:srgbClr val="674194"/>
            </a:solidFill>
          </p:spPr>
        </p:sp>
        <p:sp>
          <p:nvSpPr>
            <p:cNvPr name="TextBox 12" id="12"/>
            <p:cNvSpPr txBox="true"/>
            <p:nvPr/>
          </p:nvSpPr>
          <p:spPr>
            <a:xfrm>
              <a:off x="0" y="-9525"/>
              <a:ext cx="489887" cy="4006959"/>
            </a:xfrm>
            <a:prstGeom prst="rect">
              <a:avLst/>
            </a:prstGeom>
          </p:spPr>
          <p:txBody>
            <a:bodyPr anchor="ctr" rtlCol="false" tIns="18487" lIns="18487" bIns="18487" rIns="18487"/>
            <a:lstStyle/>
            <a:p>
              <a:pPr algn="ctr">
                <a:lnSpc>
                  <a:spcPts val="1222"/>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06529" y="2169915"/>
            <a:ext cx="12874942" cy="7326704"/>
            <a:chOff x="0" y="0"/>
            <a:chExt cx="4894564" cy="2785334"/>
          </a:xfrm>
        </p:grpSpPr>
        <p:sp>
          <p:nvSpPr>
            <p:cNvPr name="Freeform 3" id="3"/>
            <p:cNvSpPr/>
            <p:nvPr/>
          </p:nvSpPr>
          <p:spPr>
            <a:xfrm flipH="false" flipV="false" rot="0">
              <a:off x="0" y="0"/>
              <a:ext cx="4894564" cy="2785334"/>
            </a:xfrm>
            <a:custGeom>
              <a:avLst/>
              <a:gdLst/>
              <a:ahLst/>
              <a:cxnLst/>
              <a:rect r="r" b="b" t="t" l="l"/>
              <a:pathLst>
                <a:path h="2785334" w="4894564">
                  <a:moveTo>
                    <a:pt x="10222" y="0"/>
                  </a:moveTo>
                  <a:lnTo>
                    <a:pt x="4884341" y="0"/>
                  </a:lnTo>
                  <a:cubicBezTo>
                    <a:pt x="4887052" y="0"/>
                    <a:pt x="4889653" y="1077"/>
                    <a:pt x="4891570" y="2994"/>
                  </a:cubicBezTo>
                  <a:cubicBezTo>
                    <a:pt x="4893487" y="4911"/>
                    <a:pt x="4894564" y="7511"/>
                    <a:pt x="4894564" y="10222"/>
                  </a:cubicBezTo>
                  <a:lnTo>
                    <a:pt x="4894564" y="2775112"/>
                  </a:lnTo>
                  <a:cubicBezTo>
                    <a:pt x="4894564" y="2780758"/>
                    <a:pt x="4889987" y="2785334"/>
                    <a:pt x="4884341" y="2785334"/>
                  </a:cubicBezTo>
                  <a:lnTo>
                    <a:pt x="10222" y="2785334"/>
                  </a:lnTo>
                  <a:cubicBezTo>
                    <a:pt x="7511" y="2785334"/>
                    <a:pt x="4911" y="2784257"/>
                    <a:pt x="2994" y="2782340"/>
                  </a:cubicBezTo>
                  <a:cubicBezTo>
                    <a:pt x="1077" y="2780423"/>
                    <a:pt x="0" y="2777823"/>
                    <a:pt x="0" y="2775112"/>
                  </a:cubicBezTo>
                  <a:lnTo>
                    <a:pt x="0" y="10222"/>
                  </a:lnTo>
                  <a:cubicBezTo>
                    <a:pt x="0" y="7511"/>
                    <a:pt x="1077" y="4911"/>
                    <a:pt x="2994" y="2994"/>
                  </a:cubicBezTo>
                  <a:cubicBezTo>
                    <a:pt x="4911" y="1077"/>
                    <a:pt x="7511" y="0"/>
                    <a:pt x="10222" y="0"/>
                  </a:cubicBezTo>
                  <a:close/>
                </a:path>
              </a:pathLst>
            </a:custGeom>
            <a:solidFill>
              <a:srgbClr val="E2A9F1"/>
            </a:solidFill>
          </p:spPr>
        </p:sp>
        <p:sp>
          <p:nvSpPr>
            <p:cNvPr name="TextBox 4" id="4"/>
            <p:cNvSpPr txBox="true"/>
            <p:nvPr/>
          </p:nvSpPr>
          <p:spPr>
            <a:xfrm>
              <a:off x="0" y="-9525"/>
              <a:ext cx="4894564" cy="2794859"/>
            </a:xfrm>
            <a:prstGeom prst="rect">
              <a:avLst/>
            </a:prstGeom>
          </p:spPr>
          <p:txBody>
            <a:bodyPr anchor="ctr" rtlCol="false" tIns="18487" lIns="18487" bIns="18487" rIns="18487"/>
            <a:lstStyle/>
            <a:p>
              <a:pPr algn="ctr">
                <a:lnSpc>
                  <a:spcPts val="1222"/>
                </a:lnSpc>
              </a:pPr>
            </a:p>
          </p:txBody>
        </p:sp>
      </p:grpSp>
      <p:grpSp>
        <p:nvGrpSpPr>
          <p:cNvPr name="Group 5" id="5"/>
          <p:cNvGrpSpPr/>
          <p:nvPr/>
        </p:nvGrpSpPr>
        <p:grpSpPr>
          <a:xfrm rot="0">
            <a:off x="1257300" y="547687"/>
            <a:ext cx="15773400" cy="1988345"/>
            <a:chOff x="0" y="0"/>
            <a:chExt cx="21031200" cy="2651126"/>
          </a:xfrm>
        </p:grpSpPr>
        <p:sp>
          <p:nvSpPr>
            <p:cNvPr name="Freeform 6" id="6"/>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7" id="7"/>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Shoulder Rehabiltation Excersise </a:t>
              </a:r>
            </a:p>
          </p:txBody>
        </p:sp>
      </p:grpSp>
      <p:grpSp>
        <p:nvGrpSpPr>
          <p:cNvPr name="Group 8" id="8"/>
          <p:cNvGrpSpPr/>
          <p:nvPr/>
        </p:nvGrpSpPr>
        <p:grpSpPr>
          <a:xfrm rot="0">
            <a:off x="3265713" y="2536031"/>
            <a:ext cx="11756574" cy="6594472"/>
            <a:chOff x="0" y="0"/>
            <a:chExt cx="15675432" cy="8792629"/>
          </a:xfrm>
        </p:grpSpPr>
        <p:sp>
          <p:nvSpPr>
            <p:cNvPr name="Freeform 9" id="9"/>
            <p:cNvSpPr/>
            <p:nvPr/>
          </p:nvSpPr>
          <p:spPr>
            <a:xfrm flipH="false" flipV="false" rot="0">
              <a:off x="0" y="0"/>
              <a:ext cx="15675483" cy="8792591"/>
            </a:xfrm>
            <a:custGeom>
              <a:avLst/>
              <a:gdLst/>
              <a:ahLst/>
              <a:cxnLst/>
              <a:rect r="r" b="b" t="t" l="l"/>
              <a:pathLst>
                <a:path h="8792591" w="15675483">
                  <a:moveTo>
                    <a:pt x="0" y="0"/>
                  </a:moveTo>
                  <a:lnTo>
                    <a:pt x="15675483" y="0"/>
                  </a:lnTo>
                  <a:lnTo>
                    <a:pt x="15675483" y="8792591"/>
                  </a:lnTo>
                  <a:lnTo>
                    <a:pt x="0" y="8792591"/>
                  </a:lnTo>
                  <a:lnTo>
                    <a:pt x="0" y="0"/>
                  </a:lnTo>
                  <a:close/>
                </a:path>
              </a:pathLst>
            </a:custGeom>
            <a:blipFill>
              <a:blip r:embed="rId3"/>
              <a:stretch>
                <a:fillRect l="0" t="0" r="0" b="0"/>
              </a:stretch>
            </a:blipFill>
          </p:spPr>
        </p:sp>
      </p:grpSp>
      <p:sp>
        <p:nvSpPr>
          <p:cNvPr name="Freeform 10" id="10"/>
          <p:cNvSpPr/>
          <p:nvPr/>
        </p:nvSpPr>
        <p:spPr>
          <a:xfrm flipH="false" flipV="false" rot="0">
            <a:off x="16879041" y="-449819"/>
            <a:ext cx="2147888" cy="1991678"/>
          </a:xfrm>
          <a:custGeom>
            <a:avLst/>
            <a:gdLst/>
            <a:ahLst/>
            <a:cxnLst/>
            <a:rect r="r" b="b" t="t" l="l"/>
            <a:pathLst>
              <a:path h="1991678" w="2147888">
                <a:moveTo>
                  <a:pt x="0" y="0"/>
                </a:moveTo>
                <a:lnTo>
                  <a:pt x="2147888" y="0"/>
                </a:lnTo>
                <a:lnTo>
                  <a:pt x="2147888" y="1991678"/>
                </a:lnTo>
                <a:lnTo>
                  <a:pt x="0" y="19916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0" y="-228082"/>
            <a:ext cx="877729" cy="10515082"/>
            <a:chOff x="0" y="0"/>
            <a:chExt cx="333679" cy="3997434"/>
          </a:xfrm>
        </p:grpSpPr>
        <p:sp>
          <p:nvSpPr>
            <p:cNvPr name="Freeform 12" id="12"/>
            <p:cNvSpPr/>
            <p:nvPr/>
          </p:nvSpPr>
          <p:spPr>
            <a:xfrm flipH="false" flipV="false" rot="0">
              <a:off x="0" y="0"/>
              <a:ext cx="333679" cy="3997434"/>
            </a:xfrm>
            <a:custGeom>
              <a:avLst/>
              <a:gdLst/>
              <a:ahLst/>
              <a:cxnLst/>
              <a:rect r="r" b="b" t="t" l="l"/>
              <a:pathLst>
                <a:path h="3997434" w="333679">
                  <a:moveTo>
                    <a:pt x="0" y="0"/>
                  </a:moveTo>
                  <a:lnTo>
                    <a:pt x="333679" y="0"/>
                  </a:lnTo>
                  <a:lnTo>
                    <a:pt x="333679" y="3997434"/>
                  </a:lnTo>
                  <a:lnTo>
                    <a:pt x="0" y="3997434"/>
                  </a:lnTo>
                  <a:close/>
                </a:path>
              </a:pathLst>
            </a:custGeom>
            <a:solidFill>
              <a:srgbClr val="674194"/>
            </a:solidFill>
          </p:spPr>
        </p:sp>
        <p:sp>
          <p:nvSpPr>
            <p:cNvPr name="TextBox 13" id="13"/>
            <p:cNvSpPr txBox="true"/>
            <p:nvPr/>
          </p:nvSpPr>
          <p:spPr>
            <a:xfrm>
              <a:off x="0" y="-9525"/>
              <a:ext cx="333679" cy="4006959"/>
            </a:xfrm>
            <a:prstGeom prst="rect">
              <a:avLst/>
            </a:prstGeom>
          </p:spPr>
          <p:txBody>
            <a:bodyPr anchor="ctr" rtlCol="false" tIns="18487" lIns="18487" bIns="18487" rIns="18487"/>
            <a:lstStyle/>
            <a:p>
              <a:pPr algn="ctr">
                <a:lnSpc>
                  <a:spcPts val="1222"/>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8204" y="842893"/>
            <a:ext cx="8401929" cy="2549043"/>
            <a:chOff x="0" y="0"/>
            <a:chExt cx="11202572" cy="3398723"/>
          </a:xfrm>
        </p:grpSpPr>
        <p:sp>
          <p:nvSpPr>
            <p:cNvPr name="Freeform 3" id="3"/>
            <p:cNvSpPr/>
            <p:nvPr/>
          </p:nvSpPr>
          <p:spPr>
            <a:xfrm flipH="false" flipV="false" rot="0">
              <a:off x="0" y="0"/>
              <a:ext cx="11202572" cy="3398724"/>
            </a:xfrm>
            <a:custGeom>
              <a:avLst/>
              <a:gdLst/>
              <a:ahLst/>
              <a:cxnLst/>
              <a:rect r="r" b="b" t="t" l="l"/>
              <a:pathLst>
                <a:path h="3398724" w="11202572">
                  <a:moveTo>
                    <a:pt x="0" y="0"/>
                  </a:moveTo>
                  <a:lnTo>
                    <a:pt x="11202572" y="0"/>
                  </a:lnTo>
                  <a:lnTo>
                    <a:pt x="11202572" y="3398724"/>
                  </a:lnTo>
                  <a:lnTo>
                    <a:pt x="0" y="3398724"/>
                  </a:lnTo>
                  <a:close/>
                </a:path>
              </a:pathLst>
            </a:custGeom>
            <a:blipFill>
              <a:blip r:embed="rId2">
                <a:alphaModFix amt="0"/>
              </a:blip>
              <a:stretch>
                <a:fillRect l="0" t="-81571" r="-87735" b="-59574"/>
              </a:stretch>
            </a:blipFill>
          </p:spPr>
        </p:sp>
        <p:sp>
          <p:nvSpPr>
            <p:cNvPr name="TextBox 4" id="4"/>
            <p:cNvSpPr txBox="true"/>
            <p:nvPr/>
          </p:nvSpPr>
          <p:spPr>
            <a:xfrm>
              <a:off x="0" y="19050"/>
              <a:ext cx="11202572" cy="3379673"/>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Detection of repetitions</a:t>
              </a:r>
            </a:p>
          </p:txBody>
        </p:sp>
      </p:grpSp>
      <p:grpSp>
        <p:nvGrpSpPr>
          <p:cNvPr name="Group 5" id="5"/>
          <p:cNvGrpSpPr/>
          <p:nvPr/>
        </p:nvGrpSpPr>
        <p:grpSpPr>
          <a:xfrm rot="0">
            <a:off x="8245222" y="4776010"/>
            <a:ext cx="8234734" cy="4265354"/>
            <a:chOff x="0" y="0"/>
            <a:chExt cx="2265138" cy="1173276"/>
          </a:xfrm>
        </p:grpSpPr>
        <p:sp>
          <p:nvSpPr>
            <p:cNvPr name="Freeform 6" id="6"/>
            <p:cNvSpPr/>
            <p:nvPr/>
          </p:nvSpPr>
          <p:spPr>
            <a:xfrm flipH="false" flipV="false" rot="0">
              <a:off x="0" y="0"/>
              <a:ext cx="2265138" cy="1173276"/>
            </a:xfrm>
            <a:custGeom>
              <a:avLst/>
              <a:gdLst/>
              <a:ahLst/>
              <a:cxnLst/>
              <a:rect r="r" b="b" t="t" l="l"/>
              <a:pathLst>
                <a:path h="1173276" w="2265138">
                  <a:moveTo>
                    <a:pt x="46068" y="0"/>
                  </a:moveTo>
                  <a:lnTo>
                    <a:pt x="2219070" y="0"/>
                  </a:lnTo>
                  <a:cubicBezTo>
                    <a:pt x="2244513" y="0"/>
                    <a:pt x="2265138" y="20625"/>
                    <a:pt x="2265138" y="46068"/>
                  </a:cubicBezTo>
                  <a:lnTo>
                    <a:pt x="2265138" y="1127208"/>
                  </a:lnTo>
                  <a:cubicBezTo>
                    <a:pt x="2265138" y="1152651"/>
                    <a:pt x="2244513" y="1173276"/>
                    <a:pt x="2219070" y="1173276"/>
                  </a:cubicBezTo>
                  <a:lnTo>
                    <a:pt x="46068" y="1173276"/>
                  </a:lnTo>
                  <a:cubicBezTo>
                    <a:pt x="20625" y="1173276"/>
                    <a:pt x="0" y="1152651"/>
                    <a:pt x="0" y="1127208"/>
                  </a:cubicBezTo>
                  <a:lnTo>
                    <a:pt x="0" y="46068"/>
                  </a:lnTo>
                  <a:cubicBezTo>
                    <a:pt x="0" y="20625"/>
                    <a:pt x="20625" y="0"/>
                    <a:pt x="46068" y="0"/>
                  </a:cubicBezTo>
                  <a:close/>
                </a:path>
              </a:pathLst>
            </a:custGeom>
            <a:solidFill>
              <a:srgbClr val="E2A9F1"/>
            </a:solidFill>
          </p:spPr>
        </p:sp>
        <p:sp>
          <p:nvSpPr>
            <p:cNvPr name="TextBox 7" id="7"/>
            <p:cNvSpPr txBox="true"/>
            <p:nvPr/>
          </p:nvSpPr>
          <p:spPr>
            <a:xfrm>
              <a:off x="0" y="47625"/>
              <a:ext cx="2265138" cy="1125651"/>
            </a:xfrm>
            <a:prstGeom prst="rect">
              <a:avLst/>
            </a:prstGeom>
          </p:spPr>
          <p:txBody>
            <a:bodyPr anchor="ctr" rtlCol="false" tIns="635000" lIns="635000" bIns="635000" rIns="635000"/>
            <a:lstStyle/>
            <a:p>
              <a:pPr algn="l">
                <a:lnSpc>
                  <a:spcPts val="3483"/>
                </a:lnSpc>
              </a:pPr>
              <a:r>
                <a:rPr lang="en-US" sz="3518" spc="-21">
                  <a:solidFill>
                    <a:srgbClr val="000000"/>
                  </a:solidFill>
                  <a:latin typeface="Arial"/>
                  <a:ea typeface="Arial"/>
                  <a:cs typeface="Arial"/>
                  <a:sym typeface="Arial"/>
                </a:rPr>
                <a:t>Each repetition of movement is measured by tracking the distance between parts of the avatar's body.</a:t>
              </a:r>
            </a:p>
            <a:p>
              <a:pPr algn="l">
                <a:lnSpc>
                  <a:spcPts val="3483"/>
                </a:lnSpc>
              </a:pPr>
            </a:p>
            <a:p>
              <a:pPr algn="l">
                <a:lnSpc>
                  <a:spcPts val="3483"/>
                </a:lnSpc>
              </a:pPr>
              <a:r>
                <a:rPr lang="en-US" sz="3518" spc="-21">
                  <a:solidFill>
                    <a:srgbClr val="000000"/>
                  </a:solidFill>
                  <a:latin typeface="Arial"/>
                  <a:ea typeface="Arial"/>
                  <a:cs typeface="Arial"/>
                  <a:sym typeface="Arial"/>
                </a:rPr>
                <a:t>And each movement of the avatar is captured in real time by the sensors.</a:t>
              </a:r>
            </a:p>
            <a:p>
              <a:pPr algn="ctr">
                <a:lnSpc>
                  <a:spcPts val="3622"/>
                </a:lnSpc>
              </a:pPr>
            </a:p>
          </p:txBody>
        </p:sp>
      </p:grpSp>
      <p:sp>
        <p:nvSpPr>
          <p:cNvPr name="Freeform 8" id="8"/>
          <p:cNvSpPr/>
          <p:nvPr/>
        </p:nvSpPr>
        <p:spPr>
          <a:xfrm flipH="false" flipV="false" rot="0">
            <a:off x="2611258" y="687344"/>
            <a:ext cx="4311331" cy="8912313"/>
          </a:xfrm>
          <a:custGeom>
            <a:avLst/>
            <a:gdLst/>
            <a:ahLst/>
            <a:cxnLst/>
            <a:rect r="r" b="b" t="t" l="l"/>
            <a:pathLst>
              <a:path h="8912313" w="4311331">
                <a:moveTo>
                  <a:pt x="0" y="0"/>
                </a:moveTo>
                <a:lnTo>
                  <a:pt x="4311332" y="0"/>
                </a:lnTo>
                <a:lnTo>
                  <a:pt x="4311332" y="8912312"/>
                </a:lnTo>
                <a:lnTo>
                  <a:pt x="0" y="8912312"/>
                </a:lnTo>
                <a:lnTo>
                  <a:pt x="0" y="0"/>
                </a:lnTo>
                <a:close/>
              </a:path>
            </a:pathLst>
          </a:custGeom>
          <a:blipFill>
            <a:blip r:embed="rId3"/>
            <a:stretch>
              <a:fillRect l="0" t="0" r="0" b="0"/>
            </a:stretch>
          </a:blipFill>
        </p:spPr>
      </p:sp>
      <p:grpSp>
        <p:nvGrpSpPr>
          <p:cNvPr name="Group 9" id="9"/>
          <p:cNvGrpSpPr/>
          <p:nvPr/>
        </p:nvGrpSpPr>
        <p:grpSpPr>
          <a:xfrm rot="0">
            <a:off x="0" y="-228082"/>
            <a:ext cx="1288626" cy="10515082"/>
            <a:chOff x="0" y="0"/>
            <a:chExt cx="489887" cy="3997434"/>
          </a:xfrm>
        </p:grpSpPr>
        <p:sp>
          <p:nvSpPr>
            <p:cNvPr name="Freeform 10" id="10"/>
            <p:cNvSpPr/>
            <p:nvPr/>
          </p:nvSpPr>
          <p:spPr>
            <a:xfrm flipH="false" flipV="false" rot="0">
              <a:off x="0" y="0"/>
              <a:ext cx="489887" cy="3997434"/>
            </a:xfrm>
            <a:custGeom>
              <a:avLst/>
              <a:gdLst/>
              <a:ahLst/>
              <a:cxnLst/>
              <a:rect r="r" b="b" t="t" l="l"/>
              <a:pathLst>
                <a:path h="3997434" w="489887">
                  <a:moveTo>
                    <a:pt x="0" y="0"/>
                  </a:moveTo>
                  <a:lnTo>
                    <a:pt x="489887" y="0"/>
                  </a:lnTo>
                  <a:lnTo>
                    <a:pt x="489887" y="3997434"/>
                  </a:lnTo>
                  <a:lnTo>
                    <a:pt x="0" y="3997434"/>
                  </a:lnTo>
                  <a:close/>
                </a:path>
              </a:pathLst>
            </a:custGeom>
            <a:solidFill>
              <a:srgbClr val="674194"/>
            </a:solidFill>
          </p:spPr>
        </p:sp>
        <p:sp>
          <p:nvSpPr>
            <p:cNvPr name="TextBox 11" id="11"/>
            <p:cNvSpPr txBox="true"/>
            <p:nvPr/>
          </p:nvSpPr>
          <p:spPr>
            <a:xfrm>
              <a:off x="0" y="-9525"/>
              <a:ext cx="489887" cy="4006959"/>
            </a:xfrm>
            <a:prstGeom prst="rect">
              <a:avLst/>
            </a:prstGeom>
          </p:spPr>
          <p:txBody>
            <a:bodyPr anchor="ctr" rtlCol="false" tIns="18487" lIns="18487" bIns="18487" rIns="18487"/>
            <a:lstStyle/>
            <a:p>
              <a:pPr algn="ctr">
                <a:lnSpc>
                  <a:spcPts val="1222"/>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Experimental Evaluation</a:t>
              </a:r>
            </a:p>
          </p:txBody>
        </p:sp>
      </p:grpSp>
      <p:grpSp>
        <p:nvGrpSpPr>
          <p:cNvPr name="Group 5" id="5"/>
          <p:cNvGrpSpPr/>
          <p:nvPr/>
        </p:nvGrpSpPr>
        <p:grpSpPr>
          <a:xfrm rot="0">
            <a:off x="0" y="-228082"/>
            <a:ext cx="877729" cy="10515082"/>
            <a:chOff x="0" y="0"/>
            <a:chExt cx="333679" cy="3997434"/>
          </a:xfrm>
        </p:grpSpPr>
        <p:sp>
          <p:nvSpPr>
            <p:cNvPr name="Freeform 6" id="6"/>
            <p:cNvSpPr/>
            <p:nvPr/>
          </p:nvSpPr>
          <p:spPr>
            <a:xfrm flipH="false" flipV="false" rot="0">
              <a:off x="0" y="0"/>
              <a:ext cx="333679" cy="3997434"/>
            </a:xfrm>
            <a:custGeom>
              <a:avLst/>
              <a:gdLst/>
              <a:ahLst/>
              <a:cxnLst/>
              <a:rect r="r" b="b" t="t" l="l"/>
              <a:pathLst>
                <a:path h="3997434" w="333679">
                  <a:moveTo>
                    <a:pt x="0" y="0"/>
                  </a:moveTo>
                  <a:lnTo>
                    <a:pt x="333679" y="0"/>
                  </a:lnTo>
                  <a:lnTo>
                    <a:pt x="333679" y="3997434"/>
                  </a:lnTo>
                  <a:lnTo>
                    <a:pt x="0" y="3997434"/>
                  </a:lnTo>
                  <a:close/>
                </a:path>
              </a:pathLst>
            </a:custGeom>
            <a:solidFill>
              <a:srgbClr val="674194"/>
            </a:solidFill>
          </p:spPr>
        </p:sp>
        <p:sp>
          <p:nvSpPr>
            <p:cNvPr name="TextBox 7" id="7"/>
            <p:cNvSpPr txBox="true"/>
            <p:nvPr/>
          </p:nvSpPr>
          <p:spPr>
            <a:xfrm>
              <a:off x="0" y="-9525"/>
              <a:ext cx="333679" cy="4006959"/>
            </a:xfrm>
            <a:prstGeom prst="rect">
              <a:avLst/>
            </a:prstGeom>
          </p:spPr>
          <p:txBody>
            <a:bodyPr anchor="ctr" rtlCol="false" tIns="18487" lIns="18487" bIns="18487" rIns="18487"/>
            <a:lstStyle/>
            <a:p>
              <a:pPr algn="ctr">
                <a:lnSpc>
                  <a:spcPts val="1222"/>
                </a:lnSpc>
              </a:pPr>
            </a:p>
          </p:txBody>
        </p:sp>
      </p:grpSp>
      <p:grpSp>
        <p:nvGrpSpPr>
          <p:cNvPr name="Group 8" id="8"/>
          <p:cNvGrpSpPr/>
          <p:nvPr/>
        </p:nvGrpSpPr>
        <p:grpSpPr>
          <a:xfrm rot="0">
            <a:off x="1532271" y="3060105"/>
            <a:ext cx="15223458" cy="5032984"/>
            <a:chOff x="0" y="0"/>
            <a:chExt cx="4187534" cy="1384429"/>
          </a:xfrm>
        </p:grpSpPr>
        <p:sp>
          <p:nvSpPr>
            <p:cNvPr name="Freeform 9" id="9"/>
            <p:cNvSpPr/>
            <p:nvPr/>
          </p:nvSpPr>
          <p:spPr>
            <a:xfrm flipH="false" flipV="false" rot="0">
              <a:off x="0" y="0"/>
              <a:ext cx="4187534" cy="1384429"/>
            </a:xfrm>
            <a:custGeom>
              <a:avLst/>
              <a:gdLst/>
              <a:ahLst/>
              <a:cxnLst/>
              <a:rect r="r" b="b" t="t" l="l"/>
              <a:pathLst>
                <a:path h="1384429" w="4187534">
                  <a:moveTo>
                    <a:pt x="24919" y="0"/>
                  </a:moveTo>
                  <a:lnTo>
                    <a:pt x="4162615" y="0"/>
                  </a:lnTo>
                  <a:cubicBezTo>
                    <a:pt x="4169224" y="0"/>
                    <a:pt x="4175563" y="2625"/>
                    <a:pt x="4180236" y="7299"/>
                  </a:cubicBezTo>
                  <a:cubicBezTo>
                    <a:pt x="4184909" y="11972"/>
                    <a:pt x="4187534" y="18310"/>
                    <a:pt x="4187534" y="24919"/>
                  </a:cubicBezTo>
                  <a:lnTo>
                    <a:pt x="4187534" y="1359510"/>
                  </a:lnTo>
                  <a:cubicBezTo>
                    <a:pt x="4187534" y="1366119"/>
                    <a:pt x="4184909" y="1372457"/>
                    <a:pt x="4180236" y="1377130"/>
                  </a:cubicBezTo>
                  <a:cubicBezTo>
                    <a:pt x="4175563" y="1381803"/>
                    <a:pt x="4169224" y="1384429"/>
                    <a:pt x="4162615" y="1384429"/>
                  </a:cubicBezTo>
                  <a:lnTo>
                    <a:pt x="24919" y="1384429"/>
                  </a:lnTo>
                  <a:cubicBezTo>
                    <a:pt x="18310" y="1384429"/>
                    <a:pt x="11972" y="1381803"/>
                    <a:pt x="7299" y="1377130"/>
                  </a:cubicBezTo>
                  <a:cubicBezTo>
                    <a:pt x="2625" y="1372457"/>
                    <a:pt x="0" y="1366119"/>
                    <a:pt x="0" y="1359510"/>
                  </a:cubicBezTo>
                  <a:lnTo>
                    <a:pt x="0" y="24919"/>
                  </a:lnTo>
                  <a:cubicBezTo>
                    <a:pt x="0" y="18310"/>
                    <a:pt x="2625" y="11972"/>
                    <a:pt x="7299" y="7299"/>
                  </a:cubicBezTo>
                  <a:cubicBezTo>
                    <a:pt x="11972" y="2625"/>
                    <a:pt x="18310" y="0"/>
                    <a:pt x="24919" y="0"/>
                  </a:cubicBezTo>
                  <a:close/>
                </a:path>
              </a:pathLst>
            </a:custGeom>
            <a:solidFill>
              <a:srgbClr val="E2A9F1"/>
            </a:solidFill>
          </p:spPr>
        </p:sp>
        <p:sp>
          <p:nvSpPr>
            <p:cNvPr name="TextBox 10" id="10"/>
            <p:cNvSpPr txBox="true"/>
            <p:nvPr/>
          </p:nvSpPr>
          <p:spPr>
            <a:xfrm>
              <a:off x="0" y="-9525"/>
              <a:ext cx="4187534" cy="1393954"/>
            </a:xfrm>
            <a:prstGeom prst="rect">
              <a:avLst/>
            </a:prstGeom>
          </p:spPr>
          <p:txBody>
            <a:bodyPr anchor="ctr" rtlCol="false" tIns="635000" lIns="635000" bIns="635000" rIns="635000"/>
            <a:lstStyle/>
            <a:p>
              <a:pPr algn="ctr">
                <a:lnSpc>
                  <a:spcPts val="4222"/>
                </a:lnSpc>
              </a:pPr>
              <a:r>
                <a:rPr lang="en-US" sz="3518" spc="-21">
                  <a:solidFill>
                    <a:srgbClr val="000000"/>
                  </a:solidFill>
                  <a:latin typeface="Glacial Indifference"/>
                  <a:ea typeface="Glacial Indifference"/>
                  <a:cs typeface="Glacial Indifference"/>
                  <a:sym typeface="Glacial Indifference"/>
                </a:rPr>
                <a:t>Testing sessions were conducted individually with each participant in a controlled indoor environment. Initially, a brief explanation of the system and the purpose of the exercise session was provided on how to use the system and then performed both exercise modules (knee and shoulder).</a:t>
              </a:r>
              <a:r>
                <a:rPr lang="en-US" sz="3518" spc="-21">
                  <a:solidFill>
                    <a:srgbClr val="000000"/>
                  </a:solidFill>
                  <a:latin typeface="Glacial Indifference"/>
                  <a:ea typeface="Glacial Indifference"/>
                  <a:cs typeface="Glacial Indifference"/>
                  <a:sym typeface="Glacial Indifference"/>
                </a:rPr>
                <a:t> </a:t>
              </a:r>
            </a:p>
            <a:p>
              <a:pPr algn="ctr">
                <a:lnSpc>
                  <a:spcPts val="4222"/>
                </a:lnSpc>
              </a:pPr>
              <a:r>
                <a:rPr lang="en-US" sz="3518" spc="-21">
                  <a:solidFill>
                    <a:srgbClr val="000000"/>
                  </a:solidFill>
                  <a:latin typeface="Glacial Indifference"/>
                  <a:ea typeface="Glacial Indifference"/>
                  <a:cs typeface="Glacial Indifference"/>
                  <a:sym typeface="Glacial Indifference"/>
                </a:rPr>
                <a:t>The total duration of each session ranged between 5 and 10 minutes. The instructor attended one of the evaluation sessions to assess the program’s performance.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Results</a:t>
              </a:r>
            </a:p>
          </p:txBody>
        </p:sp>
      </p:grpSp>
      <p:sp>
        <p:nvSpPr>
          <p:cNvPr name="Freeform 5" id="5"/>
          <p:cNvSpPr/>
          <p:nvPr/>
        </p:nvSpPr>
        <p:spPr>
          <a:xfrm flipH="false" flipV="false" rot="0">
            <a:off x="10283466" y="3332166"/>
            <a:ext cx="8262725" cy="4943369"/>
          </a:xfrm>
          <a:custGeom>
            <a:avLst/>
            <a:gdLst/>
            <a:ahLst/>
            <a:cxnLst/>
            <a:rect r="r" b="b" t="t" l="l"/>
            <a:pathLst>
              <a:path h="4943369" w="8262725">
                <a:moveTo>
                  <a:pt x="0" y="0"/>
                </a:moveTo>
                <a:lnTo>
                  <a:pt x="8262725" y="0"/>
                </a:lnTo>
                <a:lnTo>
                  <a:pt x="8262725" y="4943369"/>
                </a:lnTo>
                <a:lnTo>
                  <a:pt x="0" y="4943369"/>
                </a:lnTo>
                <a:lnTo>
                  <a:pt x="0" y="0"/>
                </a:lnTo>
                <a:close/>
              </a:path>
            </a:pathLst>
          </a:custGeom>
          <a:blipFill>
            <a:blip r:embed="rId3"/>
            <a:stretch>
              <a:fillRect l="-5481" t="-4248" r="-5481" b="0"/>
            </a:stretch>
          </a:blipFill>
        </p:spPr>
      </p:sp>
      <p:grpSp>
        <p:nvGrpSpPr>
          <p:cNvPr name="Group 6" id="6"/>
          <p:cNvGrpSpPr/>
          <p:nvPr/>
        </p:nvGrpSpPr>
        <p:grpSpPr>
          <a:xfrm rot="0">
            <a:off x="0" y="-228082"/>
            <a:ext cx="877729" cy="10515082"/>
            <a:chOff x="0" y="0"/>
            <a:chExt cx="333679" cy="3997434"/>
          </a:xfrm>
        </p:grpSpPr>
        <p:sp>
          <p:nvSpPr>
            <p:cNvPr name="Freeform 7" id="7"/>
            <p:cNvSpPr/>
            <p:nvPr/>
          </p:nvSpPr>
          <p:spPr>
            <a:xfrm flipH="false" flipV="false" rot="0">
              <a:off x="0" y="0"/>
              <a:ext cx="333679" cy="3997434"/>
            </a:xfrm>
            <a:custGeom>
              <a:avLst/>
              <a:gdLst/>
              <a:ahLst/>
              <a:cxnLst/>
              <a:rect r="r" b="b" t="t" l="l"/>
              <a:pathLst>
                <a:path h="3997434" w="333679">
                  <a:moveTo>
                    <a:pt x="0" y="0"/>
                  </a:moveTo>
                  <a:lnTo>
                    <a:pt x="333679" y="0"/>
                  </a:lnTo>
                  <a:lnTo>
                    <a:pt x="333679" y="3997434"/>
                  </a:lnTo>
                  <a:lnTo>
                    <a:pt x="0" y="3997434"/>
                  </a:lnTo>
                  <a:close/>
                </a:path>
              </a:pathLst>
            </a:custGeom>
            <a:solidFill>
              <a:srgbClr val="674194"/>
            </a:solidFill>
          </p:spPr>
        </p:sp>
        <p:sp>
          <p:nvSpPr>
            <p:cNvPr name="TextBox 8" id="8"/>
            <p:cNvSpPr txBox="true"/>
            <p:nvPr/>
          </p:nvSpPr>
          <p:spPr>
            <a:xfrm>
              <a:off x="0" y="-9525"/>
              <a:ext cx="333679" cy="4006959"/>
            </a:xfrm>
            <a:prstGeom prst="rect">
              <a:avLst/>
            </a:prstGeom>
          </p:spPr>
          <p:txBody>
            <a:bodyPr anchor="ctr" rtlCol="false" tIns="18487" lIns="18487" bIns="18487" rIns="18487"/>
            <a:lstStyle/>
            <a:p>
              <a:pPr algn="ctr">
                <a:lnSpc>
                  <a:spcPts val="1222"/>
                </a:lnSpc>
              </a:pPr>
            </a:p>
          </p:txBody>
        </p:sp>
      </p:grpSp>
      <p:grpSp>
        <p:nvGrpSpPr>
          <p:cNvPr name="Group 9" id="9"/>
          <p:cNvGrpSpPr/>
          <p:nvPr/>
        </p:nvGrpSpPr>
        <p:grpSpPr>
          <a:xfrm rot="0">
            <a:off x="1257300" y="2228567"/>
            <a:ext cx="8841825" cy="6735721"/>
            <a:chOff x="0" y="0"/>
            <a:chExt cx="2432131" cy="1852803"/>
          </a:xfrm>
        </p:grpSpPr>
        <p:sp>
          <p:nvSpPr>
            <p:cNvPr name="Freeform 10" id="10"/>
            <p:cNvSpPr/>
            <p:nvPr/>
          </p:nvSpPr>
          <p:spPr>
            <a:xfrm flipH="false" flipV="false" rot="0">
              <a:off x="0" y="0"/>
              <a:ext cx="2432131" cy="1852803"/>
            </a:xfrm>
            <a:custGeom>
              <a:avLst/>
              <a:gdLst/>
              <a:ahLst/>
              <a:cxnLst/>
              <a:rect r="r" b="b" t="t" l="l"/>
              <a:pathLst>
                <a:path h="1852803" w="2432131">
                  <a:moveTo>
                    <a:pt x="42905" y="0"/>
                  </a:moveTo>
                  <a:lnTo>
                    <a:pt x="2389227" y="0"/>
                  </a:lnTo>
                  <a:cubicBezTo>
                    <a:pt x="2412922" y="0"/>
                    <a:pt x="2432131" y="19209"/>
                    <a:pt x="2432131" y="42905"/>
                  </a:cubicBezTo>
                  <a:lnTo>
                    <a:pt x="2432131" y="1809898"/>
                  </a:lnTo>
                  <a:cubicBezTo>
                    <a:pt x="2432131" y="1821277"/>
                    <a:pt x="2427611" y="1832190"/>
                    <a:pt x="2419565" y="1840236"/>
                  </a:cubicBezTo>
                  <a:cubicBezTo>
                    <a:pt x="2411519" y="1848282"/>
                    <a:pt x="2400606" y="1852803"/>
                    <a:pt x="2389227" y="1852803"/>
                  </a:cubicBezTo>
                  <a:lnTo>
                    <a:pt x="42905" y="1852803"/>
                  </a:lnTo>
                  <a:cubicBezTo>
                    <a:pt x="31526" y="1852803"/>
                    <a:pt x="20613" y="1848282"/>
                    <a:pt x="12566" y="1840236"/>
                  </a:cubicBezTo>
                  <a:cubicBezTo>
                    <a:pt x="4520" y="1832190"/>
                    <a:pt x="0" y="1821277"/>
                    <a:pt x="0" y="1809898"/>
                  </a:cubicBezTo>
                  <a:lnTo>
                    <a:pt x="0" y="42905"/>
                  </a:lnTo>
                  <a:cubicBezTo>
                    <a:pt x="0" y="19209"/>
                    <a:pt x="19209" y="0"/>
                    <a:pt x="42905" y="0"/>
                  </a:cubicBezTo>
                  <a:close/>
                </a:path>
              </a:pathLst>
            </a:custGeom>
            <a:solidFill>
              <a:srgbClr val="E2A9F1"/>
            </a:solidFill>
          </p:spPr>
        </p:sp>
        <p:sp>
          <p:nvSpPr>
            <p:cNvPr name="TextBox 11" id="11"/>
            <p:cNvSpPr txBox="true"/>
            <p:nvPr/>
          </p:nvSpPr>
          <p:spPr>
            <a:xfrm>
              <a:off x="0" y="-28575"/>
              <a:ext cx="2432131" cy="1881378"/>
            </a:xfrm>
            <a:prstGeom prst="rect">
              <a:avLst/>
            </a:prstGeom>
          </p:spPr>
          <p:txBody>
            <a:bodyPr anchor="ctr" rtlCol="false" tIns="18487" lIns="18487" bIns="18487" rIns="18487"/>
            <a:lstStyle/>
            <a:p>
              <a:pPr algn="ctr">
                <a:lnSpc>
                  <a:spcPts val="4222"/>
                </a:lnSpc>
              </a:pPr>
              <a:r>
                <a:rPr lang="en-US" sz="3518" spc="-21">
                  <a:solidFill>
                    <a:srgbClr val="000000"/>
                  </a:solidFill>
                  <a:latin typeface="Arial"/>
                  <a:ea typeface="Arial"/>
                  <a:cs typeface="Arial"/>
                  <a:sym typeface="Arial"/>
                </a:rPr>
                <a:t>.</a:t>
              </a:r>
            </a:p>
            <a:p>
              <a:pPr algn="ctr">
                <a:lnSpc>
                  <a:spcPts val="3622"/>
                </a:lnSpc>
              </a:pPr>
            </a:p>
          </p:txBody>
        </p:sp>
      </p:grpSp>
      <p:sp>
        <p:nvSpPr>
          <p:cNvPr name="TextBox 12" id="12"/>
          <p:cNvSpPr txBox="true"/>
          <p:nvPr/>
        </p:nvSpPr>
        <p:spPr>
          <a:xfrm rot="0">
            <a:off x="1872306" y="2887062"/>
            <a:ext cx="7611813" cy="5428257"/>
          </a:xfrm>
          <a:prstGeom prst="rect">
            <a:avLst/>
          </a:prstGeom>
        </p:spPr>
        <p:txBody>
          <a:bodyPr anchor="t" rtlCol="false" tIns="0" lIns="0" bIns="0" rIns="0">
            <a:spAutoFit/>
          </a:bodyPr>
          <a:lstStyle/>
          <a:p>
            <a:pPr algn="ctr">
              <a:lnSpc>
                <a:spcPts val="3875"/>
              </a:lnSpc>
              <a:spcBef>
                <a:spcPct val="0"/>
              </a:spcBef>
            </a:pPr>
            <a:r>
              <a:rPr lang="en-US" sz="3588" spc="-21">
                <a:solidFill>
                  <a:srgbClr val="000000"/>
                </a:solidFill>
                <a:latin typeface="Poppins Light"/>
                <a:ea typeface="Poppins Light"/>
                <a:cs typeface="Poppins Light"/>
                <a:sym typeface="Poppins Light"/>
              </a:rPr>
              <a:t>Participants rated the clarity of the exercise objectives with an average score of 9.33, while the ease of understanding the required movements reached an average of 9.60. Similarly, the visual organization of the interface received an average score of 9.56, suggesting that the system’s design is intuitive for user interaction.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7"/>
            </a:xfrm>
            <a:custGeom>
              <a:avLst/>
              <a:gdLst/>
              <a:ahLst/>
              <a:cxnLst/>
              <a:rect r="r" b="b" t="t" l="l"/>
              <a:pathLst>
                <a:path h="2651127" w="21031200">
                  <a:moveTo>
                    <a:pt x="0" y="0"/>
                  </a:moveTo>
                  <a:lnTo>
                    <a:pt x="21031200" y="0"/>
                  </a:lnTo>
                  <a:lnTo>
                    <a:pt x="21031200" y="2651127"/>
                  </a:lnTo>
                  <a:lnTo>
                    <a:pt x="0" y="2651127"/>
                  </a:lnTo>
                  <a:close/>
                </a:path>
              </a:pathLst>
            </a:custGeom>
            <a:blipFill>
              <a:blip r:embed="rId2">
                <a:alphaModFix amt="0"/>
              </a:blip>
              <a:stretch>
                <a:fillRect l="0" t="-104573" r="0" b="-104573"/>
              </a:stretch>
            </a:blipFill>
          </p:spPr>
        </p:sp>
        <p:sp>
          <p:nvSpPr>
            <p:cNvPr name="TextBox 4" id="4"/>
            <p:cNvSpPr txBox="true"/>
            <p:nvPr/>
          </p:nvSpPr>
          <p:spPr>
            <a:xfrm>
              <a:off x="0" y="19050"/>
              <a:ext cx="21031200" cy="2632076"/>
            </a:xfrm>
            <a:prstGeom prst="rect">
              <a:avLst/>
            </a:prstGeom>
          </p:spPr>
          <p:txBody>
            <a:bodyPr anchor="ctr" rtlCol="false" tIns="0" lIns="0" bIns="0" rIns="0"/>
            <a:lstStyle/>
            <a:p>
              <a:pPr algn="ctr">
                <a:lnSpc>
                  <a:spcPts val="7128"/>
                </a:lnSpc>
              </a:pPr>
              <a:r>
                <a:rPr lang="en-US" sz="6600" spc="-40">
                  <a:solidFill>
                    <a:srgbClr val="000000"/>
                  </a:solidFill>
                  <a:latin typeface="Poppins Light"/>
                  <a:ea typeface="Poppins Light"/>
                  <a:cs typeface="Poppins Light"/>
                  <a:sym typeface="Poppins Light"/>
                </a:rPr>
                <a:t>Limitations</a:t>
              </a:r>
            </a:p>
          </p:txBody>
        </p:sp>
      </p:grpSp>
      <p:sp>
        <p:nvSpPr>
          <p:cNvPr name="TextBox 5" id="5"/>
          <p:cNvSpPr txBox="true"/>
          <p:nvPr/>
        </p:nvSpPr>
        <p:spPr>
          <a:xfrm rot="0">
            <a:off x="2467046" y="2413015"/>
            <a:ext cx="10009038" cy="1562957"/>
          </a:xfrm>
          <a:prstGeom prst="rect">
            <a:avLst/>
          </a:prstGeom>
        </p:spPr>
        <p:txBody>
          <a:bodyPr anchor="t" rtlCol="false" tIns="0" lIns="0" bIns="0" rIns="0">
            <a:spAutoFit/>
          </a:bodyPr>
          <a:lstStyle/>
          <a:p>
            <a:pPr algn="l" marL="688835" indent="-344417" lvl="1">
              <a:lnSpc>
                <a:spcPts val="4110"/>
              </a:lnSpc>
              <a:buFont typeface="Arial"/>
              <a:buChar char="•"/>
            </a:pPr>
            <a:r>
              <a:rPr lang="en-US" sz="3806">
                <a:solidFill>
                  <a:srgbClr val="000000"/>
                </a:solidFill>
                <a:latin typeface="Glacial Indifference"/>
                <a:ea typeface="Glacial Indifference"/>
                <a:cs typeface="Glacial Indifference"/>
                <a:sym typeface="Glacial Indifference"/>
              </a:rPr>
              <a:t>Not was  real patients</a:t>
            </a:r>
          </a:p>
          <a:p>
            <a:pPr algn="l" marL="688835" indent="-344417" lvl="1">
              <a:lnSpc>
                <a:spcPts val="4110"/>
              </a:lnSpc>
              <a:buFont typeface="Arial"/>
              <a:buChar char="•"/>
            </a:pPr>
            <a:r>
              <a:rPr lang="en-US" sz="3806">
                <a:solidFill>
                  <a:srgbClr val="000000"/>
                </a:solidFill>
                <a:latin typeface="Glacial Indifference"/>
                <a:ea typeface="Glacial Indifference"/>
                <a:cs typeface="Glacial Indifference"/>
                <a:sym typeface="Glacial Indifference"/>
              </a:rPr>
              <a:t>It does not measure clinical effectiveness</a:t>
            </a:r>
          </a:p>
          <a:p>
            <a:pPr algn="l" marL="688835" indent="-344417" lvl="1">
              <a:lnSpc>
                <a:spcPts val="4110"/>
              </a:lnSpc>
              <a:buFont typeface="Arial"/>
              <a:buChar char="•"/>
            </a:pPr>
            <a:r>
              <a:rPr lang="en-US" sz="3806">
                <a:solidFill>
                  <a:srgbClr val="000000"/>
                </a:solidFill>
                <a:latin typeface="Glacial Indifference"/>
                <a:ea typeface="Glacial Indifference"/>
                <a:cs typeface="Glacial Indifference"/>
                <a:sym typeface="Glacial Indifference"/>
              </a:rPr>
              <a:t>Lack of correct biomechanical detection</a:t>
            </a:r>
          </a:p>
        </p:txBody>
      </p:sp>
      <p:grpSp>
        <p:nvGrpSpPr>
          <p:cNvPr name="Group 6" id="6"/>
          <p:cNvGrpSpPr/>
          <p:nvPr/>
        </p:nvGrpSpPr>
        <p:grpSpPr>
          <a:xfrm rot="0">
            <a:off x="0" y="-228082"/>
            <a:ext cx="877729" cy="10515082"/>
            <a:chOff x="0" y="0"/>
            <a:chExt cx="333679" cy="3997434"/>
          </a:xfrm>
        </p:grpSpPr>
        <p:sp>
          <p:nvSpPr>
            <p:cNvPr name="Freeform 7" id="7"/>
            <p:cNvSpPr/>
            <p:nvPr/>
          </p:nvSpPr>
          <p:spPr>
            <a:xfrm flipH="false" flipV="false" rot="0">
              <a:off x="0" y="0"/>
              <a:ext cx="333679" cy="3997434"/>
            </a:xfrm>
            <a:custGeom>
              <a:avLst/>
              <a:gdLst/>
              <a:ahLst/>
              <a:cxnLst/>
              <a:rect r="r" b="b" t="t" l="l"/>
              <a:pathLst>
                <a:path h="3997434" w="333679">
                  <a:moveTo>
                    <a:pt x="0" y="0"/>
                  </a:moveTo>
                  <a:lnTo>
                    <a:pt x="333679" y="0"/>
                  </a:lnTo>
                  <a:lnTo>
                    <a:pt x="333679" y="3997434"/>
                  </a:lnTo>
                  <a:lnTo>
                    <a:pt x="0" y="3997434"/>
                  </a:lnTo>
                  <a:close/>
                </a:path>
              </a:pathLst>
            </a:custGeom>
            <a:solidFill>
              <a:srgbClr val="674194"/>
            </a:solidFill>
          </p:spPr>
        </p:sp>
        <p:sp>
          <p:nvSpPr>
            <p:cNvPr name="TextBox 8" id="8"/>
            <p:cNvSpPr txBox="true"/>
            <p:nvPr/>
          </p:nvSpPr>
          <p:spPr>
            <a:xfrm>
              <a:off x="0" y="-9525"/>
              <a:ext cx="333679" cy="4006959"/>
            </a:xfrm>
            <a:prstGeom prst="rect">
              <a:avLst/>
            </a:prstGeom>
          </p:spPr>
          <p:txBody>
            <a:bodyPr anchor="ctr" rtlCol="false" tIns="18487" lIns="18487" bIns="18487" rIns="18487"/>
            <a:lstStyle/>
            <a:p>
              <a:pPr algn="ctr">
                <a:lnSpc>
                  <a:spcPts val="1222"/>
                </a:lnSpc>
              </a:pPr>
            </a:p>
          </p:txBody>
        </p:sp>
      </p:grpSp>
      <p:grpSp>
        <p:nvGrpSpPr>
          <p:cNvPr name="Group 9" id="9"/>
          <p:cNvGrpSpPr/>
          <p:nvPr/>
        </p:nvGrpSpPr>
        <p:grpSpPr>
          <a:xfrm rot="0">
            <a:off x="2467046" y="4195700"/>
            <a:ext cx="13796911" cy="4751117"/>
            <a:chOff x="0" y="0"/>
            <a:chExt cx="3795132" cy="1306895"/>
          </a:xfrm>
        </p:grpSpPr>
        <p:sp>
          <p:nvSpPr>
            <p:cNvPr name="Freeform 10" id="10"/>
            <p:cNvSpPr/>
            <p:nvPr/>
          </p:nvSpPr>
          <p:spPr>
            <a:xfrm flipH="false" flipV="false" rot="0">
              <a:off x="0" y="0"/>
              <a:ext cx="3795132" cy="1306895"/>
            </a:xfrm>
            <a:custGeom>
              <a:avLst/>
              <a:gdLst/>
              <a:ahLst/>
              <a:cxnLst/>
              <a:rect r="r" b="b" t="t" l="l"/>
              <a:pathLst>
                <a:path h="1306895" w="3795132">
                  <a:moveTo>
                    <a:pt x="14028" y="0"/>
                  </a:moveTo>
                  <a:lnTo>
                    <a:pt x="3781104" y="0"/>
                  </a:lnTo>
                  <a:cubicBezTo>
                    <a:pt x="3784824" y="0"/>
                    <a:pt x="3788393" y="1478"/>
                    <a:pt x="3791024" y="4109"/>
                  </a:cubicBezTo>
                  <a:cubicBezTo>
                    <a:pt x="3793654" y="6740"/>
                    <a:pt x="3795132" y="10308"/>
                    <a:pt x="3795132" y="14028"/>
                  </a:cubicBezTo>
                  <a:lnTo>
                    <a:pt x="3795132" y="1292867"/>
                  </a:lnTo>
                  <a:cubicBezTo>
                    <a:pt x="3795132" y="1296588"/>
                    <a:pt x="3793654" y="1300156"/>
                    <a:pt x="3791024" y="1302787"/>
                  </a:cubicBezTo>
                  <a:cubicBezTo>
                    <a:pt x="3788393" y="1305417"/>
                    <a:pt x="3784824" y="1306895"/>
                    <a:pt x="3781104" y="1306895"/>
                  </a:cubicBezTo>
                  <a:lnTo>
                    <a:pt x="14028" y="1306895"/>
                  </a:lnTo>
                  <a:cubicBezTo>
                    <a:pt x="10308" y="1306895"/>
                    <a:pt x="6740" y="1305417"/>
                    <a:pt x="4109" y="1302787"/>
                  </a:cubicBezTo>
                  <a:cubicBezTo>
                    <a:pt x="1478" y="1300156"/>
                    <a:pt x="0" y="1296588"/>
                    <a:pt x="0" y="1292867"/>
                  </a:cubicBezTo>
                  <a:lnTo>
                    <a:pt x="0" y="14028"/>
                  </a:lnTo>
                  <a:cubicBezTo>
                    <a:pt x="0" y="10308"/>
                    <a:pt x="1478" y="6740"/>
                    <a:pt x="4109" y="4109"/>
                  </a:cubicBezTo>
                  <a:cubicBezTo>
                    <a:pt x="6740" y="1478"/>
                    <a:pt x="10308" y="0"/>
                    <a:pt x="14028" y="0"/>
                  </a:cubicBezTo>
                  <a:close/>
                </a:path>
              </a:pathLst>
            </a:custGeom>
            <a:solidFill>
              <a:srgbClr val="E2A9F1"/>
            </a:solidFill>
          </p:spPr>
        </p:sp>
        <p:sp>
          <p:nvSpPr>
            <p:cNvPr name="TextBox 11" id="11"/>
            <p:cNvSpPr txBox="true"/>
            <p:nvPr/>
          </p:nvSpPr>
          <p:spPr>
            <a:xfrm>
              <a:off x="0" y="-28575"/>
              <a:ext cx="3795132" cy="1335470"/>
            </a:xfrm>
            <a:prstGeom prst="rect">
              <a:avLst/>
            </a:prstGeom>
          </p:spPr>
          <p:txBody>
            <a:bodyPr anchor="ctr" rtlCol="false" tIns="18487" lIns="18487" bIns="18487" rIns="18487"/>
            <a:lstStyle/>
            <a:p>
              <a:pPr algn="ctr">
                <a:lnSpc>
                  <a:spcPts val="4222"/>
                </a:lnSpc>
              </a:pPr>
              <a:r>
                <a:rPr lang="en-US" sz="3518" spc="-21">
                  <a:solidFill>
                    <a:srgbClr val="000000"/>
                  </a:solidFill>
                  <a:latin typeface="Arial"/>
                  <a:ea typeface="Arial"/>
                  <a:cs typeface="Arial"/>
                  <a:sym typeface="Arial"/>
                </a:rPr>
                <a:t>.</a:t>
              </a:r>
            </a:p>
            <a:p>
              <a:pPr algn="ctr">
                <a:lnSpc>
                  <a:spcPts val="3622"/>
                </a:lnSpc>
              </a:pPr>
            </a:p>
          </p:txBody>
        </p:sp>
      </p:grpSp>
      <p:sp>
        <p:nvSpPr>
          <p:cNvPr name="TextBox 12" id="12"/>
          <p:cNvSpPr txBox="true"/>
          <p:nvPr/>
        </p:nvSpPr>
        <p:spPr>
          <a:xfrm rot="0">
            <a:off x="2749709" y="5067559"/>
            <a:ext cx="13231585" cy="2959963"/>
          </a:xfrm>
          <a:prstGeom prst="rect">
            <a:avLst/>
          </a:prstGeom>
        </p:spPr>
        <p:txBody>
          <a:bodyPr anchor="t" rtlCol="false" tIns="0" lIns="0" bIns="0" rIns="0">
            <a:spAutoFit/>
          </a:bodyPr>
          <a:lstStyle/>
          <a:p>
            <a:pPr algn="ctr">
              <a:lnSpc>
                <a:spcPts val="3696"/>
              </a:lnSpc>
              <a:spcBef>
                <a:spcPct val="0"/>
              </a:spcBef>
            </a:pPr>
            <a:r>
              <a:rPr lang="en-US" sz="3422" spc="-20">
                <a:solidFill>
                  <a:srgbClr val="000000"/>
                </a:solidFill>
                <a:latin typeface="Glacial Indifference"/>
                <a:ea typeface="Glacial Indifference"/>
                <a:cs typeface="Glacial Indifference"/>
                <a:sym typeface="Glacial Indifference"/>
              </a:rPr>
              <a:t>It is important to emphasize that this study eva</a:t>
            </a:r>
            <a:r>
              <a:rPr lang="en-US" sz="3422" spc="-20">
                <a:solidFill>
                  <a:srgbClr val="000000"/>
                </a:solidFill>
                <a:latin typeface="Glacial Indifference"/>
                <a:ea typeface="Glacial Indifference"/>
                <a:cs typeface="Glacial Indifference"/>
                <a:sym typeface="Glacial Indifference"/>
              </a:rPr>
              <a:t>luates usability, user perception, and system functionality, rather than clinical rehabilitation outcomes. </a:t>
            </a:r>
          </a:p>
          <a:p>
            <a:pPr algn="ctr">
              <a:lnSpc>
                <a:spcPts val="4075"/>
              </a:lnSpc>
              <a:spcBef>
                <a:spcPct val="0"/>
              </a:spcBef>
            </a:pPr>
            <a:r>
              <a:rPr lang="en-US" sz="3773" spc="-22">
                <a:solidFill>
                  <a:srgbClr val="000000"/>
                </a:solidFill>
                <a:latin typeface="Glacial Indifference"/>
                <a:ea typeface="Glacial Indifference"/>
                <a:cs typeface="Glacial Indifference"/>
                <a:sym typeface="Glacial Indifference"/>
              </a:rPr>
              <a:t>One of the lowest-rated items was ”error detection” (8.67/10). The current implementation only detects whether a repetition was completed based on distance.</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4602" y="7876024"/>
            <a:ext cx="7361423" cy="1950323"/>
            <a:chOff x="0" y="0"/>
            <a:chExt cx="2798533" cy="741439"/>
          </a:xfrm>
        </p:grpSpPr>
        <p:sp>
          <p:nvSpPr>
            <p:cNvPr name="Freeform 3" id="3"/>
            <p:cNvSpPr/>
            <p:nvPr/>
          </p:nvSpPr>
          <p:spPr>
            <a:xfrm flipH="false" flipV="false" rot="0">
              <a:off x="0" y="0"/>
              <a:ext cx="2798533" cy="741439"/>
            </a:xfrm>
            <a:custGeom>
              <a:avLst/>
              <a:gdLst/>
              <a:ahLst/>
              <a:cxnLst/>
              <a:rect r="r" b="b" t="t" l="l"/>
              <a:pathLst>
                <a:path h="741439" w="2798533">
                  <a:moveTo>
                    <a:pt x="52584" y="0"/>
                  </a:moveTo>
                  <a:lnTo>
                    <a:pt x="2745949" y="0"/>
                  </a:lnTo>
                  <a:cubicBezTo>
                    <a:pt x="2774991" y="0"/>
                    <a:pt x="2798533" y="23543"/>
                    <a:pt x="2798533" y="52584"/>
                  </a:cubicBezTo>
                  <a:lnTo>
                    <a:pt x="2798533" y="688854"/>
                  </a:lnTo>
                  <a:cubicBezTo>
                    <a:pt x="2798533" y="717896"/>
                    <a:pt x="2774991" y="741439"/>
                    <a:pt x="2745949" y="741439"/>
                  </a:cubicBezTo>
                  <a:lnTo>
                    <a:pt x="52584" y="741439"/>
                  </a:lnTo>
                  <a:cubicBezTo>
                    <a:pt x="38638" y="741439"/>
                    <a:pt x="25263" y="735899"/>
                    <a:pt x="15402" y="726037"/>
                  </a:cubicBezTo>
                  <a:cubicBezTo>
                    <a:pt x="5540" y="716176"/>
                    <a:pt x="0" y="702801"/>
                    <a:pt x="0" y="688854"/>
                  </a:cubicBezTo>
                  <a:lnTo>
                    <a:pt x="0" y="52584"/>
                  </a:lnTo>
                  <a:cubicBezTo>
                    <a:pt x="0" y="23543"/>
                    <a:pt x="23543" y="0"/>
                    <a:pt x="52584" y="0"/>
                  </a:cubicBezTo>
                  <a:close/>
                </a:path>
              </a:pathLst>
            </a:custGeom>
            <a:solidFill>
              <a:srgbClr val="B5AFAE"/>
            </a:solidFill>
          </p:spPr>
        </p:sp>
        <p:sp>
          <p:nvSpPr>
            <p:cNvPr name="TextBox 4" id="4"/>
            <p:cNvSpPr txBox="true"/>
            <p:nvPr/>
          </p:nvSpPr>
          <p:spPr>
            <a:xfrm>
              <a:off x="0" y="-9525"/>
              <a:ext cx="2798533" cy="750964"/>
            </a:xfrm>
            <a:prstGeom prst="rect">
              <a:avLst/>
            </a:prstGeom>
          </p:spPr>
          <p:txBody>
            <a:bodyPr anchor="ctr" rtlCol="false" tIns="18487" lIns="18487" bIns="18487" rIns="18487"/>
            <a:lstStyle/>
            <a:p>
              <a:pPr algn="ctr">
                <a:lnSpc>
                  <a:spcPts val="1222"/>
                </a:lnSpc>
              </a:pPr>
            </a:p>
          </p:txBody>
        </p:sp>
      </p:grpSp>
      <p:grpSp>
        <p:nvGrpSpPr>
          <p:cNvPr name="Group 5" id="5"/>
          <p:cNvGrpSpPr/>
          <p:nvPr/>
        </p:nvGrpSpPr>
        <p:grpSpPr>
          <a:xfrm rot="0">
            <a:off x="1371464" y="401148"/>
            <a:ext cx="16589303" cy="6342175"/>
            <a:chOff x="0" y="0"/>
            <a:chExt cx="2084236" cy="796814"/>
          </a:xfrm>
        </p:grpSpPr>
        <p:sp>
          <p:nvSpPr>
            <p:cNvPr name="Freeform 6" id="6"/>
            <p:cNvSpPr/>
            <p:nvPr/>
          </p:nvSpPr>
          <p:spPr>
            <a:xfrm flipH="false" flipV="false" rot="0">
              <a:off x="0" y="0"/>
              <a:ext cx="2084236" cy="796814"/>
            </a:xfrm>
            <a:custGeom>
              <a:avLst/>
              <a:gdLst/>
              <a:ahLst/>
              <a:cxnLst/>
              <a:rect r="r" b="b" t="t" l="l"/>
              <a:pathLst>
                <a:path h="796814" w="2084236">
                  <a:moveTo>
                    <a:pt x="0" y="0"/>
                  </a:moveTo>
                  <a:lnTo>
                    <a:pt x="2084236" y="0"/>
                  </a:lnTo>
                  <a:lnTo>
                    <a:pt x="2084236" y="796814"/>
                  </a:lnTo>
                  <a:lnTo>
                    <a:pt x="0" y="796814"/>
                  </a:lnTo>
                  <a:close/>
                </a:path>
              </a:pathLst>
            </a:custGeom>
            <a:solidFill>
              <a:srgbClr val="CEC9BD"/>
            </a:solidFill>
            <a:ln w="66675" cap="sq">
              <a:solidFill>
                <a:srgbClr val="000000"/>
              </a:solidFill>
              <a:prstDash val="solid"/>
              <a:miter/>
            </a:ln>
          </p:spPr>
        </p:sp>
        <p:sp>
          <p:nvSpPr>
            <p:cNvPr name="TextBox 7" id="7"/>
            <p:cNvSpPr txBox="true"/>
            <p:nvPr/>
          </p:nvSpPr>
          <p:spPr>
            <a:xfrm>
              <a:off x="0" y="-9525"/>
              <a:ext cx="2084236" cy="806339"/>
            </a:xfrm>
            <a:prstGeom prst="rect">
              <a:avLst/>
            </a:prstGeom>
          </p:spPr>
          <p:txBody>
            <a:bodyPr anchor="ctr" rtlCol="false" tIns="18487" lIns="18487" bIns="18487" rIns="18487"/>
            <a:lstStyle/>
            <a:p>
              <a:pPr algn="ctr">
                <a:lnSpc>
                  <a:spcPts val="1222"/>
                </a:lnSpc>
              </a:pPr>
            </a:p>
          </p:txBody>
        </p:sp>
      </p:grpSp>
      <p:sp>
        <p:nvSpPr>
          <p:cNvPr name="TextBox 8" id="8"/>
          <p:cNvSpPr txBox="true"/>
          <p:nvPr/>
        </p:nvSpPr>
        <p:spPr>
          <a:xfrm rot="0">
            <a:off x="744502" y="8367506"/>
            <a:ext cx="5382220" cy="986409"/>
          </a:xfrm>
          <a:prstGeom prst="rect">
            <a:avLst/>
          </a:prstGeom>
        </p:spPr>
        <p:txBody>
          <a:bodyPr anchor="t" rtlCol="false" tIns="0" lIns="0" bIns="0" rIns="0">
            <a:spAutoFit/>
          </a:bodyPr>
          <a:lstStyle/>
          <a:p>
            <a:pPr algn="ctr">
              <a:lnSpc>
                <a:spcPts val="7128"/>
              </a:lnSpc>
              <a:spcBef>
                <a:spcPct val="0"/>
              </a:spcBef>
            </a:pPr>
            <a:r>
              <a:rPr lang="en-US" b="true" sz="6600" spc="-40">
                <a:solidFill>
                  <a:srgbClr val="000000"/>
                </a:solidFill>
                <a:latin typeface="Poppins Bold"/>
                <a:ea typeface="Poppins Bold"/>
                <a:cs typeface="Poppins Bold"/>
                <a:sym typeface="Poppins Bold"/>
              </a:rPr>
              <a:t>Q&amp;A Session</a:t>
            </a:r>
          </a:p>
        </p:txBody>
      </p:sp>
      <p:sp>
        <p:nvSpPr>
          <p:cNvPr name="TextBox 9" id="9"/>
          <p:cNvSpPr txBox="true"/>
          <p:nvPr/>
        </p:nvSpPr>
        <p:spPr>
          <a:xfrm rot="0">
            <a:off x="3961333" y="5162550"/>
            <a:ext cx="13999435" cy="1040130"/>
          </a:xfrm>
          <a:prstGeom prst="rect">
            <a:avLst/>
          </a:prstGeom>
        </p:spPr>
        <p:txBody>
          <a:bodyPr anchor="t" rtlCol="false" tIns="0" lIns="0" bIns="0" rIns="0">
            <a:spAutoFit/>
          </a:bodyPr>
          <a:lstStyle/>
          <a:p>
            <a:pPr algn="ctr">
              <a:lnSpc>
                <a:spcPts val="7559"/>
              </a:lnSpc>
              <a:spcBef>
                <a:spcPct val="0"/>
              </a:spcBef>
            </a:pPr>
            <a:r>
              <a:rPr lang="en-US" sz="6999" spc="-42">
                <a:solidFill>
                  <a:srgbClr val="000000"/>
                </a:solidFill>
                <a:latin typeface="Poppins"/>
                <a:ea typeface="Poppins"/>
                <a:cs typeface="Poppins"/>
                <a:sym typeface="Poppins"/>
              </a:rPr>
              <a:t>Presentation by Hemish Briones.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DAHJHsx8I2E</dc:identifier>
  <dcterms:modified xsi:type="dcterms:W3CDTF">2011-08-01T06:04:30Z</dcterms:modified>
  <cp:revision>1</cp:revision>
  <dc:title>Physical rehabilitation is a fundamental component in the functional recovery of patients with musculoskeletal injuries and motor disorders. However, traditional therapeutic processes often face problems with patient adherence and motivation, mainly due</dc:title>
</cp:coreProperties>
</file>